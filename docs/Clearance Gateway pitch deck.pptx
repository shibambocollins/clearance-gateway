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Hanken Grotesk" pitchFamily="34" charset="0"/>
      <p:regular r:id="rId19"/>
      <p:bold r:id="rId20"/>
    </p:embeddedFon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gateway that sits between employees and AI tools. The company writes its policy once, and the gateway enforces it on every prompt. Solo entry for challenge area 01, AI and Cybersecurity. If the live link is slow, I have a 2-minute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at work is already normal. The problem is that most of it happens where the company cannot see or control it. When it goes wrong, it is the client’s data that is gone, and the company is still the responsible party under POPIA. Numbers are survey results, referenced in the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person who pastes gets the benefit immediately. The client carries the risk later, and nobody measures it. The people who get hurt have no say; the people who decide feel the benefit, not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separated what I could back with evidence from what I am assuming. Causes 1 to 4 have South African survey evidence; cause 5 is from other countries and says so. The three loops are my own reasoning. Underneath all five is one imbalance: the person who pastes gets the benefit now, the client carries the risk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want to build a filter. I wanted to change the place where three of the causes meet, and be upfront about what it cannot reach. Training and policy act before the paste, bans act around it, nothing acts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five options. I first wanted option C, an AI that checks each prompt. Claude pushed back, because an AI judge can be tricked and fails open. I read the evidence and changed to compile-then-enforce: the AI is used once, to read the policy, and after that no AI decides anything. Option D is a real alternative; mine is a prototype showing the approach is cheap, with detection built for SA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used once, to read the policy. After that no AI decides anything; fixed rules decide, so the gateway cannot be talked into letting something through. The request level comes from the original prompt, and on provider failure the check is re-run under the same policy, never a blind fallback. A browser extension, Lens, applies the same checks on other AI sites because a gateway only protects the route people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1. Employee chat with a synthetic SA ID number and card number, show what was removed and why. 2. Simulator: turn the top provider off, the confidential request is blocked, not sent to the wrong one. 3. Policy change as a decision diff. 4. Evaluation page with the results. Say before starting: if the live link is slow, here is the recording. Same prompt, same policy: it removed the ID number, told the employee why, and when the trusted provider went down it blocked instead of falling back to an uncleared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claiming 100%. The point is the comparison against a simple filter and the honest list of what it still misses: digits written as words, obfuscated emails, keys split across lines. The test data is built from patterns close to what the detectors look for, so real-world accuracy will be lower. When the approved provider was down, a naive fallback sent 87 of 87 confidential requests to a lower tier; the router made 0 routing errors and blocked 81. The remaining 6 got through because their data was not detected, which is why routing is only as good as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cheap and fast enough to be realistic for a small company, and where it does not reach is written down. The check takes a median of 0.047 ms in process in the committed run; a re-run gave 0.076 ms, so it varies by machine. I have not measured cold-start time of the deployment. The compiler errs on the strict side: that is safer, but it can annoy people, which is why a human approves the rules. This is a prototype, so I was limited in resources. I used free tiers: Vercel and Supabase for hosting and the database, and the free tiers of the Gemini and Groq APIs. That limits scale and uptime guarantees. For the same reason, and because of time, the gateway does not cover AI agents such as coding agents. That design is documented,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not run this with real employees. This is how I would. Weeks 1 and 2 in shadow mode give a baseline without blocking anyone. Weeks 3 to 6 enforce. The survey is the only way to see personal-phone use, and people may not answer honestly. Shadow mode is planned for the pilot; it is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decision I want to point out: I first wanted an AI to check each prompt against the policy. Claude pushed back, because an AI judge can be tricked and fails open. I accepted that and changed to compile-then-enforce. Claude Code wrote most of the code under my direction; Claude chat helped research the sources and draft the documents from my notes. I chose the challenge area and the idea, made the design decisions, reviewed and approved every root cause, and can explain all of it. Likely questions: why not an AI judge; isn't regex easy to bypass (45 of 54 caught, 9 missed, listed); is it real (synthetic data, real accuracy lower); isn't this just a commercial product (similar products exist, mine is a prototype showing it is cheap, with SA-specific detection); what about personal phones (not covered, said upfront). Because this is a prototype with limited resources (free tiers, one person, one day and a night), AI agent support is designed but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27864"/>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140F"/>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023824"/>
            <a:ext cx="10566400" cy="4021376"/>
          </a:xfrm>
          <a:prstGeom prst="rect">
            <a:avLst/>
          </a:prstGeom>
          <a:noFill/>
          <a:ln/>
        </p:spPr>
        <p:txBody>
          <a:bodyPr wrap="square" lIns="0" tIns="0" rIns="0" bIns="0" rtlCol="0" anchor="t"/>
          <a:lstStyle>
            <a:lvl1pPr algn="l" indent="0" marL="0">
              <a:lnSpc>
                <a:spcPct val="140000"/>
              </a:lnSpc>
              <a:buNone/>
              <a:defRPr lang="en-US" sz="1600" dirty="0">
                <a:solidFill>
                  <a:srgbClr val="14140F"/>
                </a:solidFill>
                <a:latin typeface="Hanken Grotesk" pitchFamily="34" charset="0"/>
                <a:ea typeface="Hanken Grotesk" pitchFamily="34" charset="-122"/>
                <a:cs typeface="Hanken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27864"/>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4140F"/>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023824"/>
            <a:ext cx="10566400" cy="4021376"/>
          </a:xfrm>
          <a:prstGeom prst="rect">
            <a:avLst/>
          </a:prstGeom>
          <a:noFill/>
          <a:ln/>
        </p:spPr>
        <p:txBody>
          <a:bodyPr wrap="square" lIns="0" tIns="0" rIns="0" bIns="0" rtlCol="0" anchor="t"/>
          <a:lstStyle>
            <a:lvl1pPr algn="l" indent="0" marL="0">
              <a:lnSpc>
                <a:spcPct val="140000"/>
              </a:lnSpc>
              <a:buNone/>
              <a:defRPr lang="en-US" sz="1600" dirty="0">
                <a:solidFill>
                  <a:srgbClr val="14140F"/>
                </a:solidFill>
                <a:latin typeface="Hanken Grotesk" pitchFamily="34" charset="0"/>
                <a:ea typeface="Hanken Grotesk" pitchFamily="34" charset="-122"/>
                <a:cs typeface="Hanken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503A"/>
        </a:solidFill>
      </p:bgPr>
    </p:bg>
    <p:spTree>
      <p:nvGrpSpPr>
        <p:cNvPr id="1" name=""/>
        <p:cNvGrpSpPr/>
        <p:nvPr/>
      </p:nvGrpSpPr>
      <p:grpSpPr>
        <a:xfrm>
          <a:off x="0" y="0"/>
          <a:ext cx="0" cy="0"/>
          <a:chOff x="0" y="0"/>
          <a:chExt cx="0" cy="0"/>
        </a:xfrm>
      </p:grpSpPr>
      <p:sp>
        <p:nvSpPr>
          <p:cNvPr id="2" name="Text 0"/>
          <p:cNvSpPr/>
          <p:nvPr/>
        </p:nvSpPr>
        <p:spPr>
          <a:xfrm>
            <a:off x="812800" y="1172210"/>
            <a:ext cx="627888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9C8AE"/>
                </a:solidFill>
                <a:latin typeface="JetBrains Mono" pitchFamily="49" charset="0"/>
                <a:ea typeface="JetBrains Mono" pitchFamily="49" charset="-122"/>
                <a:cs typeface="JetBrains Mono" pitchFamily="49" charset="-120"/>
              </a:rPr>
              <a:t>CREDIFY SYSTEM THINKING CHALLENGE 2026</a:t>
            </a:r>
            <a:endParaRPr lang="en-US" sz="1200" dirty="0"/>
          </a:p>
        </p:txBody>
      </p:sp>
      <p:sp>
        <p:nvSpPr>
          <p:cNvPr id="3" name="Text 1"/>
          <p:cNvSpPr/>
          <p:nvPr/>
        </p:nvSpPr>
        <p:spPr>
          <a:xfrm>
            <a:off x="812800" y="1537970"/>
            <a:ext cx="4284980" cy="332740"/>
          </a:xfrm>
          <a:prstGeom prst="roundRect">
            <a:avLst>
              <a:gd name="adj" fmla="val 11450"/>
            </a:avLst>
          </a:prstGeom>
          <a:solidFill>
            <a:srgbClr val="FBFAF7"/>
          </a:solidFill>
          <a:ln/>
        </p:spPr>
        <p:txBody>
          <a:bodyPr wrap="none" lIns="0" tIns="0" rIns="0" bIns="0" rtlCol="0" anchor="ctr">
            <a:normAutofit/>
          </a:bodyPr>
          <a:lstStyle/>
          <a:p>
            <a:pPr algn="ctr" indent="0" marL="0">
              <a:lnSpc>
                <a:spcPts val="1820"/>
              </a:lnSpc>
              <a:buNone/>
            </a:pPr>
            <a:r>
              <a:rPr lang="en-US" sz="1300" b="1" spc="50" kern="0" dirty="0">
                <a:solidFill>
                  <a:srgbClr val="12503A"/>
                </a:solidFill>
                <a:latin typeface="JetBrains Mono" pitchFamily="49" charset="0"/>
                <a:ea typeface="JetBrains Mono" pitchFamily="49" charset="-122"/>
                <a:cs typeface="JetBrains Mono" pitchFamily="49" charset="-120"/>
              </a:rPr>
              <a:t>CHALLENGE AREA 01 · AI &amp; CYBERSECURITY</a:t>
            </a:r>
            <a:endParaRPr lang="en-US" sz="1300" dirty="0"/>
          </a:p>
        </p:txBody>
      </p:sp>
      <p:sp>
        <p:nvSpPr>
          <p:cNvPr id="4" name="Text 2"/>
          <p:cNvSpPr/>
          <p:nvPr>
            <p:ph type="title"/>
          </p:nvPr>
        </p:nvSpPr>
        <p:spPr>
          <a:xfrm>
            <a:off x="812800" y="2023110"/>
            <a:ext cx="6278880" cy="1854200"/>
          </a:xfrm>
          <a:prstGeom prst="rect">
            <a:avLst/>
          </a:prstGeom>
          <a:noFill/>
          <a:ln/>
        </p:spPr>
        <p:txBody>
          <a:bodyPr wrap="square" lIns="0" tIns="0" rIns="0" bIns="0" rtlCol="0" anchor="t">
            <a:normAutofit/>
          </a:bodyPr>
          <a:lstStyle/>
          <a:p>
            <a:pPr algn="l" indent="0" marL="0">
              <a:lnSpc>
                <a:spcPts val="7200"/>
              </a:lnSpc>
              <a:buNone/>
            </a:pPr>
            <a:r>
              <a:rPr lang="en-US" sz="7200" b="1" i="0" spc="-200" kern="0" dirty="0">
                <a:solidFill>
                  <a:srgbClr val="FBFAF7"/>
                </a:solidFill>
                <a:latin typeface="Hanken Grotesk" pitchFamily="34" charset="0"/>
                <a:ea typeface="Hanken Grotesk" pitchFamily="34" charset="-122"/>
                <a:cs typeface="Hanken Grotesk" pitchFamily="34" charset="-120"/>
              </a:rPr>
              <a:t>Clearance Gateway</a:t>
            </a:r>
            <a:endParaRPr lang="en-US" sz="7200" dirty="0"/>
          </a:p>
        </p:txBody>
      </p:sp>
      <p:sp>
        <p:nvSpPr>
          <p:cNvPr id="5" name="Text 3"/>
          <p:cNvSpPr/>
          <p:nvPr/>
        </p:nvSpPr>
        <p:spPr>
          <a:xfrm>
            <a:off x="812800" y="4004310"/>
            <a:ext cx="627888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E6EDDC"/>
                </a:solidFill>
                <a:latin typeface="Hanken Grotesk" pitchFamily="34" charset="0"/>
                <a:ea typeface="Hanken Grotesk" pitchFamily="34" charset="-122"/>
                <a:cs typeface="Hanken Grotesk" pitchFamily="34" charset="-120"/>
              </a:rPr>
              <a:t>Data only goes where it’s cleared to go.</a:t>
            </a:r>
            <a:endParaRPr lang="en-US" sz="2200" dirty="0"/>
          </a:p>
        </p:txBody>
      </p:sp>
      <p:sp>
        <p:nvSpPr>
          <p:cNvPr id="6" name="Text 4"/>
          <p:cNvSpPr/>
          <p:nvPr/>
        </p:nvSpPr>
        <p:spPr>
          <a:xfrm>
            <a:off x="812800" y="4491990"/>
            <a:ext cx="62788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FDBC4"/>
                </a:solidFill>
                <a:latin typeface="Hanken Grotesk" pitchFamily="34" charset="0"/>
                <a:ea typeface="Hanken Grotesk" pitchFamily="34" charset="-122"/>
                <a:cs typeface="Hanken Grotesk" pitchFamily="34" charset="-120"/>
              </a:rPr>
              <a:t>Write your company AI policy once, in plain English. Every prompt is then checked against it by fixed rules before it reaches an AI.</a:t>
            </a:r>
            <a:endParaRPr lang="en-US" sz="1500" dirty="0"/>
          </a:p>
        </p:txBody>
      </p:sp>
      <p:sp>
        <p:nvSpPr>
          <p:cNvPr id="7" name="Text 5"/>
          <p:cNvSpPr/>
          <p:nvPr/>
        </p:nvSpPr>
        <p:spPr>
          <a:xfrm>
            <a:off x="812800" y="5177790"/>
            <a:ext cx="62788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BFAF7"/>
                </a:solidFill>
                <a:latin typeface="Hanken Grotesk" pitchFamily="34" charset="0"/>
                <a:ea typeface="Hanken Grotesk" pitchFamily="34" charset="-122"/>
                <a:cs typeface="Hanken Grotesk" pitchFamily="34" charset="-120"/>
              </a:rPr>
              <a:t>Ntsobokwane Collins Shibambo</a:t>
            </a:r>
            <a:endParaRPr lang="en-US" sz="2000" dirty="0"/>
          </a:p>
        </p:txBody>
      </p:sp>
      <p:sp>
        <p:nvSpPr>
          <p:cNvPr id="8" name="Shape 6"/>
          <p:cNvSpPr/>
          <p:nvPr/>
        </p:nvSpPr>
        <p:spPr>
          <a:xfrm>
            <a:off x="6991350" y="1339850"/>
            <a:ext cx="4381500" cy="3371850"/>
          </a:xfrm>
          <a:prstGeom prst="roundRect">
            <a:avLst>
              <a:gd name="adj" fmla="val 2072"/>
            </a:avLst>
          </a:prstGeom>
          <a:solidFill>
            <a:srgbClr val="FBFAF7"/>
          </a:solidFill>
          <a:ln w="12700">
            <a:solidFill>
              <a:srgbClr val="14140F"/>
            </a:solidFill>
            <a:prstDash val="solid"/>
          </a:ln>
          <a:effectLst>
            <a:outerShdw sx="100000" sy="100000" kx="0" ky="0" algn="bl" rotWithShape="0" blurRad="0" dist="107763" dir="2700000">
              <a:srgbClr val="7D8B6A">
                <a:alpha val="100000"/>
              </a:srgbClr>
            </a:outerShdw>
          </a:effectLst>
        </p:spPr>
      </p:sp>
      <p:sp>
        <p:nvSpPr>
          <p:cNvPr id="9" name="Text 7"/>
          <p:cNvSpPr/>
          <p:nvPr/>
        </p:nvSpPr>
        <p:spPr>
          <a:xfrm>
            <a:off x="7198360" y="1572260"/>
            <a:ext cx="40865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503A"/>
                </a:solidFill>
                <a:latin typeface="JetBrains Mono" pitchFamily="49" charset="0"/>
                <a:ea typeface="JetBrains Mono" pitchFamily="49" charset="-122"/>
                <a:cs typeface="JetBrains Mono" pitchFamily="49" charset="-120"/>
              </a:rPr>
              <a:t>ONE PROMPT, THREE OUTCOMES</a:t>
            </a:r>
            <a:endParaRPr lang="en-US" sz="1200" dirty="0"/>
          </a:p>
        </p:txBody>
      </p:sp>
      <p:sp>
        <p:nvSpPr>
          <p:cNvPr id="10" name="Text 8"/>
          <p:cNvSpPr/>
          <p:nvPr/>
        </p:nvSpPr>
        <p:spPr>
          <a:xfrm>
            <a:off x="7198360" y="1963420"/>
            <a:ext cx="1206500" cy="289560"/>
          </a:xfrm>
          <a:custGeom>
            <a:avLst/>
            <a:gdLst/>
            <a:ahLst/>
            <a:cxnLst/>
            <a:rect l="l" t="t" r="r" b="b"/>
            <a:pathLst>
              <a:path w="1206500" h="289560">
                <a:moveTo>
                  <a:pt x="38100" y="0"/>
                </a:moveTo>
                <a:lnTo>
                  <a:pt x="1168400" y="0"/>
                </a:lnTo>
                <a:arcTo hR="38100" wR="38100" stAng="16200000" swAng="5400000"/>
                <a:lnTo>
                  <a:pt x="1206500" y="251460"/>
                </a:lnTo>
                <a:arcTo hR="38100" wR="38100" stAng="0" swAng="5400000"/>
                <a:lnTo>
                  <a:pt x="38100" y="289560"/>
                </a:lnTo>
                <a:arcTo hR="38100" wR="38100" stAng="5400000" swAng="5400000"/>
                <a:lnTo>
                  <a:pt x="0" y="38100"/>
                </a:lnTo>
                <a:arcTo hR="38100" wR="38100" stAng="10800000" swAng="5400000"/>
                <a:close/>
              </a:path>
            </a:pathLst>
          </a:custGeom>
          <a:solidFill>
            <a:srgbClr val="7D8B6A"/>
          </a:solidFill>
          <a:ln/>
        </p:spPr>
        <p:txBody>
          <a:bodyPr wrap="square" lIns="0" tIns="38100" rIns="0" bIns="12700" rtlCol="0" anchor="t">
            <a:normAutofit/>
          </a:bodyPr>
          <a:lstStyle/>
          <a:p>
            <a:pPr algn="ctr" indent="0" marL="0">
              <a:lnSpc>
                <a:spcPts val="1680"/>
              </a:lnSpc>
              <a:buNone/>
            </a:pPr>
            <a:r>
              <a:rPr lang="en-US" sz="1200" b="1" dirty="0">
                <a:solidFill>
                  <a:srgbClr val="14140F"/>
                </a:solidFill>
                <a:latin typeface="JetBrains Mono" pitchFamily="49" charset="0"/>
                <a:ea typeface="JetBrains Mono" pitchFamily="49" charset="-122"/>
                <a:cs typeface="JetBrains Mono" pitchFamily="49" charset="-120"/>
              </a:rPr>
              <a:t>PROTECTED</a:t>
            </a:r>
            <a:endParaRPr lang="en-US" sz="1200" dirty="0"/>
          </a:p>
        </p:txBody>
      </p:sp>
      <p:sp>
        <p:nvSpPr>
          <p:cNvPr id="11" name="Text 9"/>
          <p:cNvSpPr/>
          <p:nvPr/>
        </p:nvSpPr>
        <p:spPr>
          <a:xfrm>
            <a:off x="8531860" y="1963420"/>
            <a:ext cx="2713000"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Sensitive values are redacted or tokenised before anything leaves.</a:t>
            </a:r>
            <a:endParaRPr lang="en-US" sz="1400" dirty="0"/>
          </a:p>
        </p:txBody>
      </p:sp>
      <p:sp>
        <p:nvSpPr>
          <p:cNvPr id="12" name="Text 10"/>
          <p:cNvSpPr/>
          <p:nvPr/>
        </p:nvSpPr>
        <p:spPr>
          <a:xfrm>
            <a:off x="7198360" y="2861310"/>
            <a:ext cx="1206500" cy="289560"/>
          </a:xfrm>
          <a:custGeom>
            <a:avLst/>
            <a:gdLst/>
            <a:ahLst/>
            <a:cxnLst/>
            <a:rect l="l" t="t" r="r" b="b"/>
            <a:pathLst>
              <a:path w="1206500" h="289560">
                <a:moveTo>
                  <a:pt x="38100" y="0"/>
                </a:moveTo>
                <a:lnTo>
                  <a:pt x="1168400" y="0"/>
                </a:lnTo>
                <a:arcTo hR="38100" wR="38100" stAng="16200000" swAng="5400000"/>
                <a:lnTo>
                  <a:pt x="1206500" y="251460"/>
                </a:lnTo>
                <a:arcTo hR="38100" wR="38100" stAng="0" swAng="5400000"/>
                <a:lnTo>
                  <a:pt x="38100" y="289560"/>
                </a:lnTo>
                <a:arcTo hR="38100" wR="38100" stAng="5400000" swAng="5400000"/>
                <a:lnTo>
                  <a:pt x="0" y="38100"/>
                </a:lnTo>
                <a:arcTo hR="38100" wR="38100" stAng="10800000" swAng="5400000"/>
                <a:close/>
              </a:path>
            </a:pathLst>
          </a:custGeom>
          <a:solidFill>
            <a:srgbClr val="12503A"/>
          </a:solidFill>
          <a:ln/>
        </p:spPr>
        <p:txBody>
          <a:bodyPr wrap="square" lIns="0" tIns="38100" rIns="0" bIns="12700" rtlCol="0" anchor="t">
            <a:normAutofit/>
          </a:bodyPr>
          <a:lstStyle/>
          <a:p>
            <a:pPr algn="ctr" indent="0" marL="0">
              <a:lnSpc>
                <a:spcPts val="1680"/>
              </a:lnSpc>
              <a:buNone/>
            </a:pPr>
            <a:r>
              <a:rPr lang="en-US" sz="1200" b="1" dirty="0">
                <a:solidFill>
                  <a:srgbClr val="FBFAF7"/>
                </a:solidFill>
                <a:latin typeface="JetBrains Mono" pitchFamily="49" charset="0"/>
                <a:ea typeface="JetBrains Mono" pitchFamily="49" charset="-122"/>
                <a:cs typeface="JetBrains Mono" pitchFamily="49" charset="-120"/>
              </a:rPr>
              <a:t>SENT</a:t>
            </a:r>
            <a:endParaRPr lang="en-US" sz="1200" dirty="0"/>
          </a:p>
        </p:txBody>
      </p:sp>
      <p:sp>
        <p:nvSpPr>
          <p:cNvPr id="13" name="Text 11"/>
          <p:cNvSpPr/>
          <p:nvPr/>
        </p:nvSpPr>
        <p:spPr>
          <a:xfrm>
            <a:off x="8531860" y="2861310"/>
            <a:ext cx="2713000"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A provider cleared for that level of data is found, and only that one is used.</a:t>
            </a:r>
            <a:endParaRPr lang="en-US" sz="1400" dirty="0"/>
          </a:p>
        </p:txBody>
      </p:sp>
      <p:sp>
        <p:nvSpPr>
          <p:cNvPr id="14" name="Text 12"/>
          <p:cNvSpPr/>
          <p:nvPr/>
        </p:nvSpPr>
        <p:spPr>
          <a:xfrm>
            <a:off x="7198360" y="3759200"/>
            <a:ext cx="1206500" cy="289560"/>
          </a:xfrm>
          <a:custGeom>
            <a:avLst/>
            <a:gdLst/>
            <a:ahLst/>
            <a:cxnLst/>
            <a:rect l="l" t="t" r="r" b="b"/>
            <a:pathLst>
              <a:path w="1206500" h="289560">
                <a:moveTo>
                  <a:pt x="38100" y="0"/>
                </a:moveTo>
                <a:lnTo>
                  <a:pt x="1168400" y="0"/>
                </a:lnTo>
                <a:arcTo hR="38100" wR="38100" stAng="16200000" swAng="5400000"/>
                <a:lnTo>
                  <a:pt x="1206500" y="251460"/>
                </a:lnTo>
                <a:arcTo hR="38100" wR="38100" stAng="0" swAng="5400000"/>
                <a:lnTo>
                  <a:pt x="38100" y="289560"/>
                </a:lnTo>
                <a:arcTo hR="38100" wR="38100" stAng="5400000" swAng="5400000"/>
                <a:lnTo>
                  <a:pt x="0" y="38100"/>
                </a:lnTo>
                <a:arcTo hR="38100" wR="38100" stAng="10800000" swAng="5400000"/>
                <a:close/>
              </a:path>
            </a:pathLst>
          </a:custGeom>
          <a:solidFill>
            <a:srgbClr val="A65D3A"/>
          </a:solidFill>
          <a:ln/>
        </p:spPr>
        <p:txBody>
          <a:bodyPr wrap="square" lIns="0" tIns="38100" rIns="0" bIns="12700" rtlCol="0" anchor="t">
            <a:normAutofit/>
          </a:bodyPr>
          <a:lstStyle/>
          <a:p>
            <a:pPr algn="ctr" indent="0" marL="0">
              <a:lnSpc>
                <a:spcPts val="1680"/>
              </a:lnSpc>
              <a:buNone/>
            </a:pPr>
            <a:r>
              <a:rPr lang="en-US" sz="1200" b="1" dirty="0">
                <a:solidFill>
                  <a:srgbClr val="FBFAF7"/>
                </a:solidFill>
                <a:latin typeface="JetBrains Mono" pitchFamily="49" charset="0"/>
                <a:ea typeface="JetBrains Mono" pitchFamily="49" charset="-122"/>
                <a:cs typeface="JetBrains Mono" pitchFamily="49" charset="-120"/>
              </a:rPr>
              <a:t>BLOCKED</a:t>
            </a:r>
            <a:endParaRPr lang="en-US" sz="1200" dirty="0"/>
          </a:p>
        </p:txBody>
      </p:sp>
      <p:sp>
        <p:nvSpPr>
          <p:cNvPr id="15" name="Text 13"/>
          <p:cNvSpPr/>
          <p:nvPr/>
        </p:nvSpPr>
        <p:spPr>
          <a:xfrm>
            <a:off x="8531860" y="3759200"/>
            <a:ext cx="2713000"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No cleared provider: the request stops and the employee is told why.</a:t>
            </a:r>
            <a:endParaRPr lang="en-US" sz="1400" dirty="0"/>
          </a:p>
        </p:txBody>
      </p:sp>
      <p:sp>
        <p:nvSpPr>
          <p:cNvPr id="16" name="Text 14"/>
          <p:cNvSpPr/>
          <p:nvPr/>
        </p:nvSpPr>
        <p:spPr>
          <a:xfrm>
            <a:off x="812800" y="6238240"/>
            <a:ext cx="68675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DBC4"/>
                </a:solidFill>
                <a:latin typeface="Hanken Grotesk" pitchFamily="34" charset="0"/>
                <a:ea typeface="Hanken Grotesk" pitchFamily="34" charset="-122"/>
                <a:cs typeface="Hanken Grotesk" pitchFamily="34" charset="-120"/>
              </a:rPr>
              <a:t>ICT Application Development, CPUT · Solo entry</a:t>
            </a:r>
            <a:endParaRPr lang="en-US" sz="1200" dirty="0"/>
          </a:p>
        </p:txBody>
      </p:sp>
      <p:sp>
        <p:nvSpPr>
          <p:cNvPr id="17" name="Text 15"/>
          <p:cNvSpPr/>
          <p:nvPr/>
        </p:nvSpPr>
        <p:spPr>
          <a:xfrm>
            <a:off x="7454900" y="6238240"/>
            <a:ext cx="3924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DBC4"/>
                </a:solidFill>
                <a:latin typeface="JetBrains Mono" pitchFamily="49" charset="0"/>
                <a:ea typeface="JetBrains Mono" pitchFamily="49" charset="-122"/>
                <a:cs typeface="JetBrains Mono" pitchFamily="49" charset="-120"/>
              </a:rPr>
              <a:t>clearance-gateway-web.vercel.app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02 / THE PROBLEM</a:t>
            </a:r>
            <a:endParaRPr lang="en-US" sz="1200" dirty="0"/>
          </a:p>
        </p:txBody>
      </p:sp>
      <p:sp>
        <p:nvSpPr>
          <p:cNvPr id="4" name="Text 2"/>
          <p:cNvSpPr/>
          <p:nvPr>
            <p:ph type="title"/>
          </p:nvPr>
        </p:nvSpPr>
        <p:spPr>
          <a:xfrm>
            <a:off x="812800" y="13284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AI at work is normal. The safeguards are not.</a:t>
            </a:r>
            <a:endParaRPr lang="en-US" sz="2800" dirty="0"/>
          </a:p>
        </p:txBody>
      </p:sp>
      <p:sp>
        <p:nvSpPr>
          <p:cNvPr id="5" name="Shape 3"/>
          <p:cNvSpPr/>
          <p:nvPr/>
        </p:nvSpPr>
        <p:spPr>
          <a:xfrm>
            <a:off x="819150" y="1929130"/>
            <a:ext cx="3373914" cy="1732280"/>
          </a:xfrm>
          <a:prstGeom prst="roundRect">
            <a:avLst>
              <a:gd name="adj" fmla="val 4032"/>
            </a:avLst>
          </a:prstGeom>
          <a:solidFill>
            <a:srgbClr val="FFFEFB"/>
          </a:solidFill>
          <a:ln w="12700">
            <a:solidFill>
              <a:srgbClr val="14140F"/>
            </a:solidFill>
            <a:prstDash val="solid"/>
          </a:ln>
          <a:effectLst>
            <a:outerShdw sx="100000" sy="100000" kx="0" ky="0" algn="bl" rotWithShape="0" blurRad="0" dist="71842" dir="2700000">
              <a:srgbClr val="12503A">
                <a:alpha val="100000"/>
              </a:srgbClr>
            </a:outerShdw>
          </a:effectLst>
        </p:spPr>
      </p:sp>
      <p:sp>
        <p:nvSpPr>
          <p:cNvPr id="6" name="Text 4"/>
          <p:cNvSpPr/>
          <p:nvPr/>
        </p:nvSpPr>
        <p:spPr>
          <a:xfrm>
            <a:off x="1026160" y="2136140"/>
            <a:ext cx="3048691"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12503A"/>
                </a:solidFill>
                <a:latin typeface="Hanken Grotesk" pitchFamily="34" charset="0"/>
                <a:ea typeface="Hanken Grotesk" pitchFamily="34" charset="-122"/>
                <a:cs typeface="Hanken Grotesk" pitchFamily="34" charset="-120"/>
              </a:rPr>
              <a:t>72.5%</a:t>
            </a:r>
            <a:endParaRPr lang="en-US" sz="6000" dirty="0"/>
          </a:p>
        </p:txBody>
      </p:sp>
      <p:sp>
        <p:nvSpPr>
          <p:cNvPr id="7" name="Text 5"/>
          <p:cNvSpPr/>
          <p:nvPr/>
        </p:nvSpPr>
        <p:spPr>
          <a:xfrm>
            <a:off x="1026160" y="2974340"/>
            <a:ext cx="304869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of South African professionals use AI for work [1]</a:t>
            </a:r>
            <a:endParaRPr lang="en-US" sz="1400" dirty="0"/>
          </a:p>
        </p:txBody>
      </p:sp>
      <p:sp>
        <p:nvSpPr>
          <p:cNvPr id="8" name="Shape 6"/>
          <p:cNvSpPr/>
          <p:nvPr/>
        </p:nvSpPr>
        <p:spPr>
          <a:xfrm>
            <a:off x="4408964" y="1929130"/>
            <a:ext cx="3373993" cy="1732280"/>
          </a:xfrm>
          <a:prstGeom prst="roundRect">
            <a:avLst>
              <a:gd name="adj" fmla="val 4032"/>
            </a:avLst>
          </a:prstGeom>
          <a:solidFill>
            <a:srgbClr val="FFFEFB"/>
          </a:solidFill>
          <a:ln w="12700">
            <a:solidFill>
              <a:srgbClr val="14140F"/>
            </a:solidFill>
            <a:prstDash val="solid"/>
          </a:ln>
          <a:effectLst>
            <a:outerShdw sx="100000" sy="100000" kx="0" ky="0" algn="bl" rotWithShape="0" blurRad="0" dist="71842" dir="2700000">
              <a:srgbClr val="12503A">
                <a:alpha val="100000"/>
              </a:srgbClr>
            </a:outerShdw>
          </a:effectLst>
        </p:spPr>
      </p:sp>
      <p:sp>
        <p:nvSpPr>
          <p:cNvPr id="9" name="Text 7"/>
          <p:cNvSpPr/>
          <p:nvPr/>
        </p:nvSpPr>
        <p:spPr>
          <a:xfrm>
            <a:off x="4615974" y="2136140"/>
            <a:ext cx="304877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12503A"/>
                </a:solidFill>
                <a:latin typeface="Hanken Grotesk" pitchFamily="34" charset="0"/>
                <a:ea typeface="Hanken Grotesk" pitchFamily="34" charset="-122"/>
                <a:cs typeface="Hanken Grotesk" pitchFamily="34" charset="-120"/>
              </a:rPr>
              <a:t>30%</a:t>
            </a:r>
            <a:endParaRPr lang="en-US" sz="6000" dirty="0"/>
          </a:p>
        </p:txBody>
      </p:sp>
      <p:sp>
        <p:nvSpPr>
          <p:cNvPr id="10" name="Text 8"/>
          <p:cNvSpPr/>
          <p:nvPr/>
        </p:nvSpPr>
        <p:spPr>
          <a:xfrm>
            <a:off x="4615974" y="2974340"/>
            <a:ext cx="304877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have had guidance on using it safely [1]</a:t>
            </a:r>
            <a:endParaRPr lang="en-US" sz="1400" dirty="0"/>
          </a:p>
        </p:txBody>
      </p:sp>
      <p:sp>
        <p:nvSpPr>
          <p:cNvPr id="11" name="Shape 9"/>
          <p:cNvSpPr/>
          <p:nvPr/>
        </p:nvSpPr>
        <p:spPr>
          <a:xfrm>
            <a:off x="7998857" y="1929130"/>
            <a:ext cx="3373993" cy="1732280"/>
          </a:xfrm>
          <a:prstGeom prst="roundRect">
            <a:avLst>
              <a:gd name="adj" fmla="val 4032"/>
            </a:avLst>
          </a:prstGeom>
          <a:solidFill>
            <a:srgbClr val="FFFEFB"/>
          </a:solidFill>
          <a:ln w="12700">
            <a:solidFill>
              <a:srgbClr val="14140F"/>
            </a:solidFill>
            <a:prstDash val="solid"/>
          </a:ln>
          <a:effectLst>
            <a:outerShdw sx="100000" sy="100000" kx="0" ky="0" algn="bl" rotWithShape="0" blurRad="0" dist="71842" dir="2700000">
              <a:srgbClr val="12503A">
                <a:alpha val="100000"/>
              </a:srgbClr>
            </a:outerShdw>
          </a:effectLst>
        </p:spPr>
      </p:sp>
      <p:sp>
        <p:nvSpPr>
          <p:cNvPr id="12" name="Text 10"/>
          <p:cNvSpPr/>
          <p:nvPr/>
        </p:nvSpPr>
        <p:spPr>
          <a:xfrm>
            <a:off x="8205867" y="2136140"/>
            <a:ext cx="304877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12503A"/>
                </a:solidFill>
                <a:latin typeface="Hanken Grotesk" pitchFamily="34" charset="0"/>
                <a:ea typeface="Hanken Grotesk" pitchFamily="34" charset="-122"/>
                <a:cs typeface="Hanken Grotesk" pitchFamily="34" charset="-120"/>
              </a:rPr>
              <a:t>64%</a:t>
            </a:r>
            <a:endParaRPr lang="en-US" sz="6000" dirty="0"/>
          </a:p>
        </p:txBody>
      </p:sp>
      <p:sp>
        <p:nvSpPr>
          <p:cNvPr id="13" name="Text 11"/>
          <p:cNvSpPr/>
          <p:nvPr/>
        </p:nvSpPr>
        <p:spPr>
          <a:xfrm>
            <a:off x="8205867" y="2974340"/>
            <a:ext cx="304877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of organisations say their AI use is unapproved or ungoverned [2]</a:t>
            </a:r>
            <a:endParaRPr lang="en-US" sz="1400" dirty="0"/>
          </a:p>
        </p:txBody>
      </p:sp>
      <p:sp>
        <p:nvSpPr>
          <p:cNvPr id="14" name="Text 12"/>
          <p:cNvSpPr/>
          <p:nvPr/>
        </p:nvSpPr>
        <p:spPr>
          <a:xfrm>
            <a:off x="812800" y="3870960"/>
            <a:ext cx="3149600" cy="1024890"/>
          </a:xfrm>
          <a:prstGeom prst="roundRect">
            <a:avLst>
              <a:gd name="adj" fmla="val 4957"/>
            </a:avLst>
          </a:prstGeom>
          <a:solidFill>
            <a:srgbClr val="EEF1E8"/>
          </a:solidFill>
          <a:ln/>
        </p:spPr>
        <p:txBody>
          <a:bodyPr wrap="square" lIns="213721" tIns="137521" rIns="80625" bIns="112121"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Someone pastes client details, ID numbers or passwords into a personal AI account</a:t>
            </a:r>
            <a:endParaRPr lang="en-US" sz="1400" dirty="0"/>
          </a:p>
        </p:txBody>
      </p:sp>
      <p:sp>
        <p:nvSpPr>
          <p:cNvPr id="15" name="Shape 13"/>
          <p:cNvSpPr/>
          <p:nvPr/>
        </p:nvSpPr>
        <p:spPr>
          <a:xfrm>
            <a:off x="812800" y="3870960"/>
            <a:ext cx="3149600" cy="1024890"/>
          </a:xfrm>
          <a:custGeom>
            <a:avLst/>
            <a:gdLst/>
            <a:ahLst/>
            <a:cxnLst/>
            <a:rect l="l" t="t" r="r" b="b"/>
            <a:pathLst>
              <a:path w="3149600" h="1024890">
                <a:moveTo>
                  <a:pt x="50800" y="1024890"/>
                </a:moveTo>
                <a:lnTo>
                  <a:pt x="50800" y="1024890"/>
                </a:lnTo>
                <a:arcTo hR="50800" wR="50800" stAng="5400000" swAng="5400000"/>
                <a:lnTo>
                  <a:pt x="0" y="50800"/>
                </a:lnTo>
                <a:arcTo hR="50800" wR="50800" stAng="10800000" swAng="5400000"/>
                <a:lnTo>
                  <a:pt x="50800" y="0"/>
                </a:lnTo>
                <a:lnTo>
                  <a:pt x="50800" y="1024890"/>
                </a:lnTo>
                <a:close/>
              </a:path>
            </a:pathLst>
          </a:custGeom>
          <a:solidFill>
            <a:srgbClr val="7D8B6A"/>
          </a:solidFill>
          <a:ln/>
        </p:spPr>
      </p:sp>
      <p:pic>
        <p:nvPicPr>
          <p:cNvPr id="16" name="Image 0" descr="arrow-right">    </p:cNvPr>
          <p:cNvPicPr>
            <a:picLocks noChangeAspect="1"/>
          </p:cNvPicPr>
          <p:nvPr/>
        </p:nvPicPr>
        <p:blipFill>
          <a:blip r:embed="rId1"/>
          <a:srcRect l="0" r="0" t="0" b="0"/>
          <a:stretch/>
        </p:blipFill>
        <p:spPr>
          <a:xfrm>
            <a:off x="4064000" y="4294505"/>
            <a:ext cx="355600" cy="177800"/>
          </a:xfrm>
          <a:prstGeom prst="rect">
            <a:avLst/>
          </a:prstGeom>
        </p:spPr>
      </p:pic>
      <p:sp>
        <p:nvSpPr>
          <p:cNvPr id="17" name="Text 14"/>
          <p:cNvSpPr/>
          <p:nvPr/>
        </p:nvSpPr>
        <p:spPr>
          <a:xfrm>
            <a:off x="4521200" y="3990975"/>
            <a:ext cx="3149600" cy="784860"/>
          </a:xfrm>
          <a:prstGeom prst="roundRect">
            <a:avLst>
              <a:gd name="adj" fmla="val 6472"/>
            </a:avLst>
          </a:prstGeom>
          <a:solidFill>
            <a:srgbClr val="EEF1E8"/>
          </a:solidFill>
          <a:ln/>
        </p:spPr>
        <p:txBody>
          <a:bodyPr wrap="square" lIns="213721" tIns="137521" rIns="80625" bIns="112121"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The data leaves the company, and no one can see it go</a:t>
            </a:r>
            <a:endParaRPr lang="en-US" sz="1400" dirty="0"/>
          </a:p>
        </p:txBody>
      </p:sp>
      <p:sp>
        <p:nvSpPr>
          <p:cNvPr id="18" name="Shape 15"/>
          <p:cNvSpPr/>
          <p:nvPr/>
        </p:nvSpPr>
        <p:spPr>
          <a:xfrm>
            <a:off x="4521200" y="3990975"/>
            <a:ext cx="3149600" cy="784860"/>
          </a:xfrm>
          <a:custGeom>
            <a:avLst/>
            <a:gdLst/>
            <a:ahLst/>
            <a:cxnLst/>
            <a:rect l="l" t="t" r="r" b="b"/>
            <a:pathLst>
              <a:path w="3149600" h="784860">
                <a:moveTo>
                  <a:pt x="50800" y="784860"/>
                </a:moveTo>
                <a:lnTo>
                  <a:pt x="50800" y="784860"/>
                </a:lnTo>
                <a:arcTo hR="50800" wR="50800" stAng="5400000" swAng="5400000"/>
                <a:lnTo>
                  <a:pt x="0" y="50800"/>
                </a:lnTo>
                <a:arcTo hR="50800" wR="50800" stAng="10800000" swAng="5400000"/>
                <a:lnTo>
                  <a:pt x="50800" y="0"/>
                </a:lnTo>
                <a:lnTo>
                  <a:pt x="50800" y="784860"/>
                </a:lnTo>
                <a:close/>
              </a:path>
            </a:pathLst>
          </a:custGeom>
          <a:solidFill>
            <a:srgbClr val="7D8B6A"/>
          </a:solidFill>
          <a:ln/>
        </p:spPr>
      </p:sp>
      <p:pic>
        <p:nvPicPr>
          <p:cNvPr id="19" name="Image 1" descr="arrow-right">    </p:cNvPr>
          <p:cNvPicPr>
            <a:picLocks noChangeAspect="1"/>
          </p:cNvPicPr>
          <p:nvPr/>
        </p:nvPicPr>
        <p:blipFill>
          <a:blip r:embed="rId2"/>
          <a:srcRect l="0" r="0" t="0" b="0"/>
          <a:stretch/>
        </p:blipFill>
        <p:spPr>
          <a:xfrm>
            <a:off x="7772400" y="4294505"/>
            <a:ext cx="355600" cy="177800"/>
          </a:xfrm>
          <a:prstGeom prst="rect">
            <a:avLst/>
          </a:prstGeom>
        </p:spPr>
      </p:pic>
      <p:sp>
        <p:nvSpPr>
          <p:cNvPr id="20" name="Text 16"/>
          <p:cNvSpPr/>
          <p:nvPr/>
        </p:nvSpPr>
        <p:spPr>
          <a:xfrm>
            <a:off x="8229600" y="3870960"/>
            <a:ext cx="3149600" cy="1024890"/>
          </a:xfrm>
          <a:prstGeom prst="roundRect">
            <a:avLst>
              <a:gd name="adj" fmla="val 4957"/>
            </a:avLst>
          </a:prstGeom>
          <a:solidFill>
            <a:srgbClr val="F3E1D6"/>
          </a:solidFill>
          <a:ln/>
        </p:spPr>
        <p:txBody>
          <a:bodyPr wrap="square" lIns="213721" tIns="137521" rIns="80625" bIns="112121" rtlCol="0" anchor="t">
            <a:normAutofit/>
          </a:bodyPr>
          <a:lstStyle/>
          <a:p>
            <a:pPr algn="l" indent="0" marL="0">
              <a:lnSpc>
                <a:spcPts val="1890"/>
              </a:lnSpc>
              <a:buNone/>
            </a:pPr>
            <a:r>
              <a:rPr lang="en-US" sz="1400" b="1" dirty="0">
                <a:solidFill>
                  <a:srgbClr val="14140F"/>
                </a:solidFill>
                <a:latin typeface="Hanken Grotesk" pitchFamily="34" charset="0"/>
                <a:ea typeface="Hanken Grotesk" pitchFamily="34" charset="-122"/>
                <a:cs typeface="Hanken Grotesk" pitchFamily="34" charset="-120"/>
              </a:rPr>
              <a:t>The company is still responsible.</a:t>
            </a:r>
            <a:r>
              <a:rPr lang="en-US" sz="1400" dirty="0">
                <a:solidFill>
                  <a:srgbClr val="14140F"/>
                </a:solidFill>
                <a:latin typeface="Hanken Grotesk" pitchFamily="34" charset="0"/>
                <a:ea typeface="Hanken Grotesk" pitchFamily="34" charset="-122"/>
                <a:cs typeface="Hanken Grotesk" pitchFamily="34" charset="-120"/>
              </a:rPr>
              <a:t> POPIA requires reasonable security measures [10]</a:t>
            </a:r>
            <a:endParaRPr lang="en-US" sz="1400" dirty="0"/>
          </a:p>
        </p:txBody>
      </p:sp>
      <p:sp>
        <p:nvSpPr>
          <p:cNvPr id="21" name="Shape 17"/>
          <p:cNvSpPr/>
          <p:nvPr/>
        </p:nvSpPr>
        <p:spPr>
          <a:xfrm>
            <a:off x="8229600" y="3870960"/>
            <a:ext cx="3149600" cy="1024890"/>
          </a:xfrm>
          <a:custGeom>
            <a:avLst/>
            <a:gdLst/>
            <a:ahLst/>
            <a:cxnLst/>
            <a:rect l="l" t="t" r="r" b="b"/>
            <a:pathLst>
              <a:path w="3149600" h="1024890">
                <a:moveTo>
                  <a:pt x="50800" y="1024890"/>
                </a:moveTo>
                <a:lnTo>
                  <a:pt x="50800" y="1024890"/>
                </a:lnTo>
                <a:arcTo hR="50800" wR="50800" stAng="5400000" swAng="5400000"/>
                <a:lnTo>
                  <a:pt x="0" y="50800"/>
                </a:lnTo>
                <a:arcTo hR="50800" wR="50800" stAng="10800000" swAng="5400000"/>
                <a:lnTo>
                  <a:pt x="50800" y="0"/>
                </a:lnTo>
                <a:lnTo>
                  <a:pt x="50800" y="1024890"/>
                </a:lnTo>
                <a:close/>
              </a:path>
            </a:pathLst>
          </a:custGeom>
          <a:solidFill>
            <a:srgbClr val="A65D3A"/>
          </a:solidFill>
          <a:ln/>
        </p:spPr>
      </p:sp>
      <p:sp>
        <p:nvSpPr>
          <p:cNvPr id="22" name="Text 18"/>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Sources: Kaspersky 2025 [1] · KnowBe4 2026 [2] · Bowmans [10]</a:t>
            </a:r>
            <a:endParaRPr lang="en-US" sz="1200" dirty="0"/>
          </a:p>
        </p:txBody>
      </p:sp>
      <p:sp>
        <p:nvSpPr>
          <p:cNvPr id="23" name="Text 19"/>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03 / STAKEHOLDERS AND TODAY’S SYSTEM</a:t>
            </a:r>
            <a:endParaRPr lang="en-US" sz="1200" dirty="0"/>
          </a:p>
        </p:txBody>
      </p:sp>
      <p:sp>
        <p:nvSpPr>
          <p:cNvPr id="4" name="Text 2"/>
          <p:cNvSpPr/>
          <p:nvPr>
            <p:ph type="title"/>
          </p:nvPr>
        </p:nvSpPr>
        <p:spPr>
          <a:xfrm>
            <a:off x="812800" y="13284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Those who decide feel the benefit. Those at risk have no say.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32940"/>
          <a:ext cx="10556240" cy="2051050"/>
        </p:xfrm>
        <a:graphic>
          <a:graphicData uri="http://schemas.openxmlformats.org/drawingml/2006/table">
            <a:tbl>
              <a:tblPr/>
              <a:tblGrid>
                <a:gridCol w="2111248"/>
                <a:gridCol w="3166872"/>
                <a:gridCol w="5278120"/>
              </a:tblGrid>
              <a:tr h="410210">
                <a:tc>
                  <a:txBody>
                    <a:bodyPr/>
                    <a:lstStyle/>
                    <a:p>
                      <a:pPr indent="0" marL="0">
                        <a:lnSpc>
                          <a:spcPts val="2100"/>
                        </a:lnSpc>
                        <a:buNone/>
                      </a:pPr>
                      <a:r>
                        <a:rPr lang="en-US" sz="1500" b="1" dirty="0">
                          <a:solidFill>
                            <a:srgbClr val="FBFAF7"/>
                          </a:solidFill>
                          <a:latin typeface="Hanken Grotesk" pitchFamily="34" charset="0"/>
                          <a:ea typeface="Hanken Grotesk" pitchFamily="34" charset="-122"/>
                          <a:cs typeface="Hanken Grotesk" pitchFamily="34" charset="-120"/>
                        </a:rPr>
                        <a:t>Who</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2100"/>
                        </a:lnSpc>
                        <a:buNone/>
                      </a:pPr>
                      <a:r>
                        <a:rPr lang="en-US" sz="1500" b="1" dirty="0">
                          <a:solidFill>
                            <a:srgbClr val="FBFAF7"/>
                          </a:solidFill>
                          <a:latin typeface="Hanken Grotesk" pitchFamily="34" charset="0"/>
                          <a:ea typeface="Hanken Grotesk" pitchFamily="34" charset="-122"/>
                          <a:cs typeface="Hanken Grotesk" pitchFamily="34" charset="-120"/>
                        </a:rPr>
                        <a:t>Wants</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2100"/>
                        </a:lnSpc>
                        <a:buNone/>
                      </a:pPr>
                      <a:r>
                        <a:rPr lang="en-US" sz="1500" b="1" dirty="0">
                          <a:solidFill>
                            <a:srgbClr val="FBFAF7"/>
                          </a:solidFill>
                          <a:latin typeface="Hanken Grotesk" pitchFamily="34" charset="0"/>
                          <a:ea typeface="Hanken Grotesk" pitchFamily="34" charset="-122"/>
                          <a:cs typeface="Hanken Grotesk" pitchFamily="34" charset="-120"/>
                        </a:rPr>
                        <a:t>Power over the data</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r>
              <a:tr h="410210">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Employees</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Finish work faster</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Full control over what they paste</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Managers</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Productivity</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Set targets and choose tools</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410210">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IT / security</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Safe data</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Can block tools, but often don’t drive AI adoption [3]</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Clients</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8C7C5"/>
                      </a:solidFill>
                      <a:prstDash val="solid"/>
                      <a:round/>
                      <a:headEnd type="none" w="med" len="med"/>
                      <a:tailEnd type="none" w="med" len="med"/>
                    </a:lnL>
                    <a:lnR w="12700" cap="flat" cmpd="sng" algn="ctr">
                      <a:solidFill>
                        <a:srgbClr val="C2B4A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B4AB"/>
                      </a:solidFill>
                      <a:prstDash val="solid"/>
                      <a:round/>
                      <a:headEnd type="none" w="med" len="med"/>
                      <a:tailEnd type="none" w="med" len="med"/>
                    </a:lnB>
                    <a:solidFill>
                      <a:srgbClr val="F3E1D6"/>
                    </a:solidFill>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Privacy</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2B4AB"/>
                      </a:solidFill>
                      <a:prstDash val="solid"/>
                      <a:round/>
                      <a:headEnd type="none" w="med" len="med"/>
                      <a:tailEnd type="none" w="med" len="med"/>
                    </a:lnL>
                    <a:lnR w="12700" cap="flat" cmpd="sng" algn="ctr">
                      <a:solidFill>
                        <a:srgbClr val="C2B4A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B4AB"/>
                      </a:solidFill>
                      <a:prstDash val="solid"/>
                      <a:round/>
                      <a:headEnd type="none" w="med" len="med"/>
                      <a:tailEnd type="none" w="med" len="med"/>
                    </a:lnB>
                    <a:solidFill>
                      <a:srgbClr val="F3E1D6"/>
                    </a:solidFill>
                  </a:tcPr>
                </a:tc>
                <a:tc>
                  <a:txBody>
                    <a:bodyPr/>
                    <a:lstStyle/>
                    <a:p>
                      <a:pPr indent="0" marL="0">
                        <a:lnSpc>
                          <a:spcPts val="2100"/>
                        </a:lnSpc>
                        <a:buNone/>
                      </a:pPr>
                      <a:r>
                        <a:rPr lang="en-US" sz="1500" dirty="0">
                          <a:solidFill>
                            <a:srgbClr val="14140F"/>
                          </a:solidFill>
                          <a:latin typeface="Hanken Grotesk" pitchFamily="34" charset="0"/>
                          <a:ea typeface="Hanken Grotesk" pitchFamily="34" charset="-122"/>
                          <a:cs typeface="Hanken Grotesk" pitchFamily="34" charset="-120"/>
                        </a:rPr>
                        <a:t>None. They don’t even know</a:t>
                      </a:r>
                      <a:endParaRPr lang="en-US" sz="1500" dirty="0">
                        <a:latin typeface="Hanken Grotesk" charset="0"/>
                        <a:ea typeface="Hanken Grotesk" charset="0"/>
                        <a:cs typeface="Hanken Grotesk" charset="0"/>
                      </a:endParaRPr>
                    </a:p>
                  </a:txBody>
                  <a:tcPr marL="66675" marR="66675" marT="66675" marB="66675" anchor="t">
                    <a:lnL w="12700" cap="flat" cmpd="sng" algn="ctr">
                      <a:solidFill>
                        <a:srgbClr val="C2B4AB"/>
                      </a:solidFill>
                      <a:prstDash val="solid"/>
                      <a:round/>
                      <a:headEnd type="none" w="med" len="med"/>
                      <a:tailEnd type="none" w="med" len="med"/>
                    </a:lnL>
                    <a:lnR w="12700" cap="flat" cmpd="sng" algn="ctr">
                      <a:solidFill>
                        <a:srgbClr val="C2B4A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B4AB"/>
                      </a:solidFill>
                      <a:prstDash val="solid"/>
                      <a:round/>
                      <a:headEnd type="none" w="med" len="med"/>
                      <a:tailEnd type="none" w="med" len="med"/>
                    </a:lnB>
                    <a:solidFill>
                      <a:srgbClr val="F3E1D6"/>
                    </a:solidFill>
                  </a:tcPr>
                </a:tc>
              </a:tr>
            </a:tbl>
          </a:graphicData>
        </a:graphic>
      </p:graphicFrame>
      <p:sp>
        <p:nvSpPr>
          <p:cNvPr id="6" name="Text 3"/>
          <p:cNvSpPr/>
          <p:nvPr/>
        </p:nvSpPr>
        <p:spPr>
          <a:xfrm>
            <a:off x="812800" y="4187191"/>
            <a:ext cx="6776720" cy="916940"/>
          </a:xfrm>
          <a:prstGeom prst="roundRect">
            <a:avLst>
              <a:gd name="adj" fmla="val 8310"/>
            </a:avLst>
          </a:prstGeom>
          <a:solidFill>
            <a:srgbClr val="12503A"/>
          </a:solidFill>
          <a:ln/>
          <a:effectLst>
            <a:outerShdw sx="100000" sy="100000" kx="0" ky="0" algn="bl" rotWithShape="0" blurRad="0" dist="71842" dir="2700000">
              <a:srgbClr val="7D8B6A">
                <a:alpha val="100000"/>
              </a:srgbClr>
            </a:outerShdw>
          </a:effectLst>
        </p:spPr>
        <p:txBody>
          <a:bodyPr wrap="square" lIns="206282" tIns="155482" rIns="16697" bIns="130082" rtlCol="0" anchor="t">
            <a:normAutofit/>
          </a:bodyPr>
          <a:lstStyle/>
          <a:p>
            <a:pPr algn="l" indent="0" marL="0">
              <a:lnSpc>
                <a:spcPts val="2210"/>
              </a:lnSpc>
              <a:buNone/>
            </a:pPr>
            <a:r>
              <a:rPr lang="en-US" sz="1700" b="1" dirty="0">
                <a:solidFill>
                  <a:srgbClr val="FBFAF7"/>
                </a:solidFill>
                <a:latin typeface="Hanken Grotesk" pitchFamily="34" charset="0"/>
                <a:ea typeface="Hanken Grotesk" pitchFamily="34" charset="-122"/>
                <a:cs typeface="Hanken Grotesk" pitchFamily="34" charset="-120"/>
              </a:rPr>
              <a:t>The person who pastes gets the benefit immediately. The client carries the risk later, and nobody measures it.</a:t>
            </a:r>
            <a:endParaRPr lang="en-US" sz="1700" dirty="0"/>
          </a:p>
        </p:txBody>
      </p:sp>
      <p:sp>
        <p:nvSpPr>
          <p:cNvPr id="7" name="Shape 4"/>
          <p:cNvSpPr/>
          <p:nvPr/>
        </p:nvSpPr>
        <p:spPr>
          <a:xfrm>
            <a:off x="7799070" y="4193541"/>
            <a:ext cx="3573780" cy="904240"/>
          </a:xfrm>
          <a:prstGeom prst="roundRect">
            <a:avLst>
              <a:gd name="adj" fmla="val 7725"/>
            </a:avLst>
          </a:prstGeom>
          <a:solidFill>
            <a:srgbClr val="EEF1E8"/>
          </a:solidFill>
          <a:ln w="12700">
            <a:solidFill>
              <a:srgbClr val="14140F"/>
            </a:solidFill>
            <a:prstDash val="solid"/>
          </a:ln>
        </p:spPr>
      </p:sp>
      <p:sp>
        <p:nvSpPr>
          <p:cNvPr id="8" name="Text 5"/>
          <p:cNvSpPr/>
          <p:nvPr/>
        </p:nvSpPr>
        <p:spPr>
          <a:xfrm>
            <a:off x="8006080" y="4375150"/>
            <a:ext cx="325455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ALSO INVOLVED</a:t>
            </a:r>
            <a:endParaRPr lang="en-US" sz="1200" dirty="0"/>
          </a:p>
        </p:txBody>
      </p:sp>
      <p:sp>
        <p:nvSpPr>
          <p:cNvPr id="9" name="Text 6"/>
          <p:cNvSpPr/>
          <p:nvPr/>
        </p:nvSpPr>
        <p:spPr>
          <a:xfrm>
            <a:off x="8006080" y="4588511"/>
            <a:ext cx="336042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140F"/>
                </a:solidFill>
                <a:latin typeface="Hanken Grotesk" pitchFamily="34" charset="0"/>
                <a:ea typeface="Hanken Grotesk" pitchFamily="34" charset="-122"/>
                <a:cs typeface="Hanken Grotesk" pitchFamily="34" charset="-120"/>
              </a:rPr>
              <a:t>AI providers · the Information Regulator</a:t>
            </a:r>
            <a:endParaRPr lang="en-US" sz="1400" dirty="0"/>
          </a:p>
        </p:txBody>
      </p:sp>
      <p:sp>
        <p:nvSpPr>
          <p:cNvPr id="10" name="Text 7"/>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Source: World Wide Worx / Dell / Intel 2025 [3]</a:t>
            </a:r>
            <a:endParaRPr lang="en-US" sz="1200" dirty="0"/>
          </a:p>
        </p:txBody>
      </p:sp>
      <p:sp>
        <p:nvSpPr>
          <p:cNvPr id="11" name="Text 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04 / ROOT CAUSES AND HOW THEY CONNECT</a:t>
            </a:r>
            <a:endParaRPr lang="en-US" sz="1200" dirty="0"/>
          </a:p>
        </p:txBody>
      </p:sp>
      <p:sp>
        <p:nvSpPr>
          <p:cNvPr id="4" name="Text 2"/>
          <p:cNvSpPr/>
          <p:nvPr>
            <p:ph type="title"/>
          </p:nvPr>
        </p:nvSpPr>
        <p:spPr>
          <a:xfrm>
            <a:off x="812800" y="132842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Five causes, three loops, one imbalance</a:t>
            </a:r>
            <a:endParaRPr lang="en-US" sz="2800" dirty="0"/>
          </a:p>
        </p:txBody>
      </p:sp>
      <p:sp>
        <p:nvSpPr>
          <p:cNvPr id="5" name="Shape 3"/>
          <p:cNvSpPr/>
          <p:nvPr/>
        </p:nvSpPr>
        <p:spPr>
          <a:xfrm>
            <a:off x="812800" y="1922780"/>
            <a:ext cx="4064000" cy="3606800"/>
          </a:xfrm>
          <a:prstGeom prst="roundRect">
            <a:avLst>
              <a:gd name="adj" fmla="val 2113"/>
            </a:avLst>
          </a:prstGeom>
          <a:solidFill>
            <a:srgbClr val="FFFEFB"/>
          </a:solidFill>
          <a:ln/>
        </p:spPr>
      </p:sp>
      <p:pic>
        <p:nvPicPr>
          <p:cNvPr id="6" name="Image 0" descr="System map: five root causes and the feedback loops A, B and C that keep shadow AI use going">    </p:cNvPr>
          <p:cNvPicPr>
            <a:picLocks noChangeAspect="1"/>
          </p:cNvPicPr>
          <p:nvPr/>
        </p:nvPicPr>
        <p:blipFill>
          <a:blip r:embed="rId1"/>
          <a:srcRect l="-27" r="-27" t="0" b="0"/>
          <a:stretch/>
        </p:blipFill>
        <p:spPr>
          <a:xfrm>
            <a:off x="825500" y="1935480"/>
            <a:ext cx="4038600" cy="3581400"/>
          </a:xfrm>
          <a:prstGeom prst="roundRect">
            <a:avLst>
              <a:gd name="adj" fmla="val 1773"/>
            </a:avLst>
          </a:prstGeom>
        </p:spPr>
      </p:pic>
      <p:sp>
        <p:nvSpPr>
          <p:cNvPr id="7" name="Shape 4"/>
          <p:cNvSpPr/>
          <p:nvPr/>
        </p:nvSpPr>
        <p:spPr>
          <a:xfrm>
            <a:off x="819150" y="1929130"/>
            <a:ext cx="4051300" cy="3594100"/>
          </a:xfrm>
          <a:prstGeom prst="roundRect">
            <a:avLst>
              <a:gd name="adj" fmla="val 1943"/>
            </a:avLst>
          </a:prstGeom>
          <a:noFill/>
          <a:ln w="12700">
            <a:solidFill>
              <a:srgbClr val="14140F"/>
            </a:solidFill>
            <a:prstDash val="solid"/>
          </a:ln>
        </p:spPr>
      </p:sp>
      <p:sp>
        <p:nvSpPr>
          <p:cNvPr id="8" name="Text 5"/>
          <p:cNvSpPr/>
          <p:nvPr/>
        </p:nvSpPr>
        <p:spPr>
          <a:xfrm>
            <a:off x="5130800" y="1922780"/>
            <a:ext cx="304800" cy="299720"/>
          </a:xfrm>
          <a:custGeom>
            <a:avLst/>
            <a:gdLst/>
            <a:ahLst/>
            <a:cxnLst/>
            <a:rect l="l" t="t" r="r" b="b"/>
            <a:pathLst>
              <a:path w="304800" h="299720">
                <a:moveTo>
                  <a:pt x="38100" y="0"/>
                </a:moveTo>
                <a:lnTo>
                  <a:pt x="266700" y="0"/>
                </a:lnTo>
                <a:arcTo hR="38100" wR="38100" stAng="16200000" swAng="5400000"/>
                <a:lnTo>
                  <a:pt x="304800" y="261620"/>
                </a:lnTo>
                <a:arcTo hR="38100" wR="38100" stAng="0" swAng="5400000"/>
                <a:lnTo>
                  <a:pt x="38100" y="299720"/>
                </a:lnTo>
                <a:arcTo hR="38100" wR="38100" stAng="5400000" swAng="5400000"/>
                <a:lnTo>
                  <a:pt x="0" y="38100"/>
                </a:lnTo>
                <a:arcTo hR="38100" wR="38100" stAng="10800000" swAng="5400000"/>
                <a:close/>
              </a:path>
            </a:pathLst>
          </a:custGeom>
          <a:solidFill>
            <a:srgbClr val="12503A"/>
          </a:solidFill>
          <a:ln/>
        </p:spPr>
        <p:txBody>
          <a:bodyPr wrap="square" lIns="0" tIns="25400" rIns="0" bIns="0" rtlCol="0" anchor="t">
            <a:normAutofit/>
          </a:bodyPr>
          <a:lstStyle/>
          <a:p>
            <a:pPr algn="ctr" indent="0" marL="0">
              <a:lnSpc>
                <a:spcPts val="1960"/>
              </a:lnSpc>
              <a:buNone/>
            </a:pPr>
            <a:r>
              <a:rPr lang="en-US" sz="1400" b="1" dirty="0">
                <a:solidFill>
                  <a:srgbClr val="FBFAF7"/>
                </a:solidFill>
                <a:latin typeface="JetBrains Mono" pitchFamily="49" charset="0"/>
                <a:ea typeface="JetBrains Mono" pitchFamily="49" charset="-122"/>
                <a:cs typeface="JetBrains Mono" pitchFamily="49" charset="-120"/>
              </a:rPr>
              <a:t>1</a:t>
            </a:r>
            <a:endParaRPr lang="en-US" sz="1400" dirty="0"/>
          </a:p>
        </p:txBody>
      </p:sp>
      <p:sp>
        <p:nvSpPr>
          <p:cNvPr id="9" name="Text 6"/>
          <p:cNvSpPr/>
          <p:nvPr/>
        </p:nvSpPr>
        <p:spPr>
          <a:xfrm>
            <a:off x="5549900" y="1922780"/>
            <a:ext cx="60041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Speed is rewarded, safety isn’t checked</a:t>
            </a:r>
            <a:endParaRPr lang="en-US" sz="1400" dirty="0"/>
          </a:p>
        </p:txBody>
      </p:sp>
      <p:sp>
        <p:nvSpPr>
          <p:cNvPr id="10" name="Text 7"/>
          <p:cNvSpPr/>
          <p:nvPr/>
        </p:nvSpPr>
        <p:spPr>
          <a:xfrm>
            <a:off x="5549900" y="2148841"/>
            <a:ext cx="60041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59% say time pressure makes them make security mistakes [2]</a:t>
            </a:r>
            <a:endParaRPr lang="en-US" sz="1200" dirty="0"/>
          </a:p>
        </p:txBody>
      </p:sp>
      <p:sp>
        <p:nvSpPr>
          <p:cNvPr id="11" name="Text 8"/>
          <p:cNvSpPr/>
          <p:nvPr/>
        </p:nvSpPr>
        <p:spPr>
          <a:xfrm>
            <a:off x="5130800" y="2435861"/>
            <a:ext cx="304800" cy="299720"/>
          </a:xfrm>
          <a:custGeom>
            <a:avLst/>
            <a:gdLst/>
            <a:ahLst/>
            <a:cxnLst/>
            <a:rect l="l" t="t" r="r" b="b"/>
            <a:pathLst>
              <a:path w="304800" h="299720">
                <a:moveTo>
                  <a:pt x="38100" y="0"/>
                </a:moveTo>
                <a:lnTo>
                  <a:pt x="266700" y="0"/>
                </a:lnTo>
                <a:arcTo hR="38100" wR="38100" stAng="16200000" swAng="5400000"/>
                <a:lnTo>
                  <a:pt x="304800" y="261620"/>
                </a:lnTo>
                <a:arcTo hR="38100" wR="38100" stAng="0" swAng="5400000"/>
                <a:lnTo>
                  <a:pt x="38100" y="299720"/>
                </a:lnTo>
                <a:arcTo hR="38100" wR="38100" stAng="5400000" swAng="5400000"/>
                <a:lnTo>
                  <a:pt x="0" y="38100"/>
                </a:lnTo>
                <a:arcTo hR="38100" wR="38100" stAng="10800000" swAng="5400000"/>
                <a:close/>
              </a:path>
            </a:pathLst>
          </a:custGeom>
          <a:solidFill>
            <a:srgbClr val="12503A"/>
          </a:solidFill>
          <a:ln/>
        </p:spPr>
        <p:txBody>
          <a:bodyPr wrap="square" lIns="0" tIns="25400" rIns="0" bIns="0" rtlCol="0" anchor="t">
            <a:normAutofit/>
          </a:bodyPr>
          <a:lstStyle/>
          <a:p>
            <a:pPr algn="ctr" indent="0" marL="0">
              <a:lnSpc>
                <a:spcPts val="1960"/>
              </a:lnSpc>
              <a:buNone/>
            </a:pPr>
            <a:r>
              <a:rPr lang="en-US" sz="1400" b="1" dirty="0">
                <a:solidFill>
                  <a:srgbClr val="FBFAF7"/>
                </a:solidFill>
                <a:latin typeface="JetBrains Mono" pitchFamily="49" charset="0"/>
                <a:ea typeface="JetBrains Mono" pitchFamily="49" charset="-122"/>
                <a:cs typeface="JetBrains Mono" pitchFamily="49" charset="-120"/>
              </a:rPr>
              <a:t>2</a:t>
            </a:r>
            <a:endParaRPr lang="en-US" sz="1400" dirty="0"/>
          </a:p>
        </p:txBody>
      </p:sp>
      <p:sp>
        <p:nvSpPr>
          <p:cNvPr id="12" name="Text 9"/>
          <p:cNvSpPr/>
          <p:nvPr/>
        </p:nvSpPr>
        <p:spPr>
          <a:xfrm>
            <a:off x="5549900" y="2435861"/>
            <a:ext cx="60041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The company AI tool is missing or worse</a:t>
            </a:r>
            <a:endParaRPr lang="en-US" sz="1400" dirty="0"/>
          </a:p>
        </p:txBody>
      </p:sp>
      <p:sp>
        <p:nvSpPr>
          <p:cNvPr id="13" name="Text 10"/>
          <p:cNvSpPr/>
          <p:nvPr/>
        </p:nvSpPr>
        <p:spPr>
          <a:xfrm>
            <a:off x="5549900" y="2661920"/>
            <a:ext cx="60041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35% bring their own tools when approved ones are missing or too strict [2]</a:t>
            </a:r>
            <a:endParaRPr lang="en-US" sz="1200" dirty="0"/>
          </a:p>
        </p:txBody>
      </p:sp>
      <p:sp>
        <p:nvSpPr>
          <p:cNvPr id="14" name="Text 11"/>
          <p:cNvSpPr/>
          <p:nvPr/>
        </p:nvSpPr>
        <p:spPr>
          <a:xfrm>
            <a:off x="5130800" y="2948941"/>
            <a:ext cx="304800" cy="299720"/>
          </a:xfrm>
          <a:custGeom>
            <a:avLst/>
            <a:gdLst/>
            <a:ahLst/>
            <a:cxnLst/>
            <a:rect l="l" t="t" r="r" b="b"/>
            <a:pathLst>
              <a:path w="304800" h="299720">
                <a:moveTo>
                  <a:pt x="38100" y="0"/>
                </a:moveTo>
                <a:lnTo>
                  <a:pt x="266700" y="0"/>
                </a:lnTo>
                <a:arcTo hR="38100" wR="38100" stAng="16200000" swAng="5400000"/>
                <a:lnTo>
                  <a:pt x="304800" y="261620"/>
                </a:lnTo>
                <a:arcTo hR="38100" wR="38100" stAng="0" swAng="5400000"/>
                <a:lnTo>
                  <a:pt x="38100" y="299720"/>
                </a:lnTo>
                <a:arcTo hR="38100" wR="38100" stAng="5400000" swAng="5400000"/>
                <a:lnTo>
                  <a:pt x="0" y="38100"/>
                </a:lnTo>
                <a:arcTo hR="38100" wR="38100" stAng="10800000" swAng="5400000"/>
                <a:close/>
              </a:path>
            </a:pathLst>
          </a:custGeom>
          <a:solidFill>
            <a:srgbClr val="12503A"/>
          </a:solidFill>
          <a:ln/>
        </p:spPr>
        <p:txBody>
          <a:bodyPr wrap="square" lIns="0" tIns="25400" rIns="0" bIns="0" rtlCol="0" anchor="t">
            <a:normAutofit/>
          </a:bodyPr>
          <a:lstStyle/>
          <a:p>
            <a:pPr algn="ctr" indent="0" marL="0">
              <a:lnSpc>
                <a:spcPts val="1960"/>
              </a:lnSpc>
              <a:buNone/>
            </a:pPr>
            <a:r>
              <a:rPr lang="en-US" sz="1400" b="1" dirty="0">
                <a:solidFill>
                  <a:srgbClr val="FBFAF7"/>
                </a:solidFill>
                <a:latin typeface="JetBrains Mono" pitchFamily="49" charset="0"/>
                <a:ea typeface="JetBrains Mono" pitchFamily="49" charset="-122"/>
                <a:cs typeface="JetBrains Mono" pitchFamily="49" charset="-120"/>
              </a:rPr>
              <a:t>3</a:t>
            </a:r>
            <a:endParaRPr lang="en-US" sz="1400" dirty="0"/>
          </a:p>
        </p:txBody>
      </p:sp>
      <p:sp>
        <p:nvSpPr>
          <p:cNvPr id="15" name="Text 12"/>
          <p:cNvSpPr/>
          <p:nvPr/>
        </p:nvSpPr>
        <p:spPr>
          <a:xfrm>
            <a:off x="5549900" y="2948941"/>
            <a:ext cx="60041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Policy is on paper only</a:t>
            </a:r>
            <a:endParaRPr lang="en-US" sz="1400" dirty="0"/>
          </a:p>
        </p:txBody>
      </p:sp>
      <p:sp>
        <p:nvSpPr>
          <p:cNvPr id="16" name="Text 13"/>
          <p:cNvSpPr/>
          <p:nvPr/>
        </p:nvSpPr>
        <p:spPr>
          <a:xfrm>
            <a:off x="5549900" y="3175000"/>
            <a:ext cx="60041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33% of executives say a clear AI plan was shared; 10% of staff agree [4]</a:t>
            </a:r>
            <a:endParaRPr lang="en-US" sz="1200" dirty="0"/>
          </a:p>
        </p:txBody>
      </p:sp>
      <p:sp>
        <p:nvSpPr>
          <p:cNvPr id="17" name="Text 14"/>
          <p:cNvSpPr/>
          <p:nvPr/>
        </p:nvSpPr>
        <p:spPr>
          <a:xfrm>
            <a:off x="5130800" y="3462020"/>
            <a:ext cx="304800" cy="299720"/>
          </a:xfrm>
          <a:custGeom>
            <a:avLst/>
            <a:gdLst/>
            <a:ahLst/>
            <a:cxnLst/>
            <a:rect l="l" t="t" r="r" b="b"/>
            <a:pathLst>
              <a:path w="304800" h="299720">
                <a:moveTo>
                  <a:pt x="38100" y="0"/>
                </a:moveTo>
                <a:lnTo>
                  <a:pt x="266700" y="0"/>
                </a:lnTo>
                <a:arcTo hR="38100" wR="38100" stAng="16200000" swAng="5400000"/>
                <a:lnTo>
                  <a:pt x="304800" y="261620"/>
                </a:lnTo>
                <a:arcTo hR="38100" wR="38100" stAng="0" swAng="5400000"/>
                <a:lnTo>
                  <a:pt x="38100" y="299720"/>
                </a:lnTo>
                <a:arcTo hR="38100" wR="38100" stAng="5400000" swAng="5400000"/>
                <a:lnTo>
                  <a:pt x="0" y="38100"/>
                </a:lnTo>
                <a:arcTo hR="38100" wR="38100" stAng="10800000" swAng="5400000"/>
                <a:close/>
              </a:path>
            </a:pathLst>
          </a:custGeom>
          <a:solidFill>
            <a:srgbClr val="12503A"/>
          </a:solidFill>
          <a:ln/>
        </p:spPr>
        <p:txBody>
          <a:bodyPr wrap="square" lIns="0" tIns="25400" rIns="0" bIns="0" rtlCol="0" anchor="t">
            <a:normAutofit/>
          </a:bodyPr>
          <a:lstStyle/>
          <a:p>
            <a:pPr algn="ctr" indent="0" marL="0">
              <a:lnSpc>
                <a:spcPts val="1960"/>
              </a:lnSpc>
              <a:buNone/>
            </a:pPr>
            <a:r>
              <a:rPr lang="en-US" sz="1400" b="1" dirty="0">
                <a:solidFill>
                  <a:srgbClr val="FBFAF7"/>
                </a:solidFill>
                <a:latin typeface="JetBrains Mono" pitchFamily="49" charset="0"/>
                <a:ea typeface="JetBrains Mono" pitchFamily="49" charset="-122"/>
                <a:cs typeface="JetBrains Mono" pitchFamily="49" charset="-120"/>
              </a:rPr>
              <a:t>4</a:t>
            </a:r>
            <a:endParaRPr lang="en-US" sz="1400" dirty="0"/>
          </a:p>
        </p:txBody>
      </p:sp>
      <p:sp>
        <p:nvSpPr>
          <p:cNvPr id="18" name="Text 15"/>
          <p:cNvSpPr/>
          <p:nvPr/>
        </p:nvSpPr>
        <p:spPr>
          <a:xfrm>
            <a:off x="5549900" y="3462020"/>
            <a:ext cx="60041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The risk feels invisible</a:t>
            </a:r>
            <a:endParaRPr lang="en-US" sz="1400" dirty="0"/>
          </a:p>
        </p:txBody>
      </p:sp>
      <p:sp>
        <p:nvSpPr>
          <p:cNvPr id="19" name="Text 16"/>
          <p:cNvSpPr/>
          <p:nvPr/>
        </p:nvSpPr>
        <p:spPr>
          <a:xfrm>
            <a:off x="5549900" y="3688080"/>
            <a:ext cx="60041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10% never take safety steps, 41% only sometimes [5]</a:t>
            </a:r>
            <a:endParaRPr lang="en-US" sz="1200" dirty="0"/>
          </a:p>
        </p:txBody>
      </p:sp>
      <p:sp>
        <p:nvSpPr>
          <p:cNvPr id="20" name="Text 17"/>
          <p:cNvSpPr/>
          <p:nvPr/>
        </p:nvSpPr>
        <p:spPr>
          <a:xfrm>
            <a:off x="5130800" y="3975100"/>
            <a:ext cx="304800" cy="299720"/>
          </a:xfrm>
          <a:custGeom>
            <a:avLst/>
            <a:gdLst/>
            <a:ahLst/>
            <a:cxnLst/>
            <a:rect l="l" t="t" r="r" b="b"/>
            <a:pathLst>
              <a:path w="304800" h="299720">
                <a:moveTo>
                  <a:pt x="38100" y="0"/>
                </a:moveTo>
                <a:lnTo>
                  <a:pt x="266700" y="0"/>
                </a:lnTo>
                <a:arcTo hR="38100" wR="38100" stAng="16200000" swAng="5400000"/>
                <a:lnTo>
                  <a:pt x="304800" y="261620"/>
                </a:lnTo>
                <a:arcTo hR="38100" wR="38100" stAng="0" swAng="5400000"/>
                <a:lnTo>
                  <a:pt x="38100" y="299720"/>
                </a:lnTo>
                <a:arcTo hR="38100" wR="38100" stAng="5400000" swAng="5400000"/>
                <a:lnTo>
                  <a:pt x="0" y="38100"/>
                </a:lnTo>
                <a:arcTo hR="38100" wR="38100" stAng="10800000" swAng="5400000"/>
                <a:close/>
              </a:path>
            </a:pathLst>
          </a:custGeom>
          <a:solidFill>
            <a:srgbClr val="12503A"/>
          </a:solidFill>
          <a:ln/>
        </p:spPr>
        <p:txBody>
          <a:bodyPr wrap="square" lIns="0" tIns="25400" rIns="0" bIns="0" rtlCol="0" anchor="t">
            <a:normAutofit/>
          </a:bodyPr>
          <a:lstStyle/>
          <a:p>
            <a:pPr algn="ctr" indent="0" marL="0">
              <a:lnSpc>
                <a:spcPts val="1960"/>
              </a:lnSpc>
              <a:buNone/>
            </a:pPr>
            <a:r>
              <a:rPr lang="en-US" sz="1400" b="1" dirty="0">
                <a:solidFill>
                  <a:srgbClr val="FBFAF7"/>
                </a:solidFill>
                <a:latin typeface="JetBrains Mono" pitchFamily="49" charset="0"/>
                <a:ea typeface="JetBrains Mono" pitchFamily="49" charset="-122"/>
                <a:cs typeface="JetBrains Mono" pitchFamily="49" charset="-120"/>
              </a:rPr>
              <a:t>5</a:t>
            </a:r>
            <a:endParaRPr lang="en-US" sz="1400" dirty="0"/>
          </a:p>
        </p:txBody>
      </p:sp>
      <p:sp>
        <p:nvSpPr>
          <p:cNvPr id="21" name="Text 18"/>
          <p:cNvSpPr/>
          <p:nvPr/>
        </p:nvSpPr>
        <p:spPr>
          <a:xfrm>
            <a:off x="5549900" y="3975100"/>
            <a:ext cx="60041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People hide their AI use</a:t>
            </a:r>
            <a:endParaRPr lang="en-US" sz="1400" dirty="0"/>
          </a:p>
        </p:txBody>
      </p:sp>
      <p:sp>
        <p:nvSpPr>
          <p:cNvPr id="22" name="Text 19"/>
          <p:cNvSpPr/>
          <p:nvPr/>
        </p:nvSpPr>
        <p:spPr>
          <a:xfrm>
            <a:off x="5549900" y="4201161"/>
            <a:ext cx="60041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33% would hide it from managers (not SA data) [7]</a:t>
            </a:r>
            <a:endParaRPr lang="en-US" sz="1200" dirty="0"/>
          </a:p>
        </p:txBody>
      </p:sp>
      <p:sp>
        <p:nvSpPr>
          <p:cNvPr id="23" name="Shape 20"/>
          <p:cNvSpPr/>
          <p:nvPr/>
        </p:nvSpPr>
        <p:spPr>
          <a:xfrm>
            <a:off x="5130800" y="4488180"/>
            <a:ext cx="6248400" cy="641350"/>
          </a:xfrm>
          <a:prstGeom prst="roundRect">
            <a:avLst>
              <a:gd name="adj" fmla="val 7921"/>
            </a:avLst>
          </a:prstGeom>
          <a:solidFill>
            <a:srgbClr val="EEF1E8"/>
          </a:solidFill>
          <a:ln/>
        </p:spPr>
      </p:sp>
      <p:sp>
        <p:nvSpPr>
          <p:cNvPr id="24" name="Shape 21"/>
          <p:cNvSpPr/>
          <p:nvPr/>
        </p:nvSpPr>
        <p:spPr>
          <a:xfrm>
            <a:off x="5130800" y="4488180"/>
            <a:ext cx="6248400" cy="641350"/>
          </a:xfrm>
          <a:custGeom>
            <a:avLst/>
            <a:gdLst/>
            <a:ahLst/>
            <a:cxnLst/>
            <a:rect l="l" t="t" r="r" b="b"/>
            <a:pathLst>
              <a:path w="6248400" h="641350">
                <a:moveTo>
                  <a:pt x="50800" y="641350"/>
                </a:moveTo>
                <a:lnTo>
                  <a:pt x="50800" y="641350"/>
                </a:lnTo>
                <a:arcTo hR="50800" wR="50800" stAng="5400000" swAng="5400000"/>
                <a:lnTo>
                  <a:pt x="0" y="50800"/>
                </a:lnTo>
                <a:arcTo hR="50800" wR="50800" stAng="10800000" swAng="5400000"/>
                <a:lnTo>
                  <a:pt x="50800" y="0"/>
                </a:lnTo>
                <a:lnTo>
                  <a:pt x="50800" y="641350"/>
                </a:lnTo>
                <a:close/>
              </a:path>
            </a:pathLst>
          </a:custGeom>
          <a:solidFill>
            <a:srgbClr val="7D8B6A"/>
          </a:solidFill>
          <a:ln/>
        </p:spPr>
      </p:sp>
      <p:sp>
        <p:nvSpPr>
          <p:cNvPr id="25" name="Text 22"/>
          <p:cNvSpPr/>
          <p:nvPr/>
        </p:nvSpPr>
        <p:spPr>
          <a:xfrm>
            <a:off x="5321300" y="4589780"/>
            <a:ext cx="6095746"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140F"/>
                </a:solidFill>
                <a:latin typeface="Hanken Grotesk" pitchFamily="34" charset="0"/>
                <a:ea typeface="Hanken Grotesk" pitchFamily="34" charset="-122"/>
                <a:cs typeface="Hanken Grotesk" pitchFamily="34" charset="-120"/>
              </a:rPr>
              <a:t>Loops:</a:t>
            </a:r>
            <a:r>
              <a:rPr lang="en-US" sz="1300" dirty="0">
                <a:solidFill>
                  <a:srgbClr val="14140F"/>
                </a:solidFill>
                <a:latin typeface="Hanken Grotesk" pitchFamily="34" charset="0"/>
                <a:ea typeface="Hanken Grotesk" pitchFamily="34" charset="-122"/>
                <a:cs typeface="Hanken Grotesk" pitchFamily="34" charset="-120"/>
              </a:rPr>
              <a:t> A it becomes normal · B bans backfire · C the policy loses respect</a:t>
            </a:r>
            <a:endParaRPr lang="en-US" sz="1300" dirty="0"/>
          </a:p>
        </p:txBody>
      </p:sp>
      <p:sp>
        <p:nvSpPr>
          <p:cNvPr id="26" name="Text 23"/>
          <p:cNvSpPr/>
          <p:nvPr/>
        </p:nvSpPr>
        <p:spPr>
          <a:xfrm>
            <a:off x="5321300" y="4829811"/>
            <a:ext cx="609574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The numbers are evidence. The loops are my reasoning, and I label them as such.</a:t>
            </a:r>
            <a:endParaRPr lang="en-US" sz="1200" dirty="0"/>
          </a:p>
        </p:txBody>
      </p:sp>
      <p:sp>
        <p:nvSpPr>
          <p:cNvPr id="27" name="Text 2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Sources: KnowBe4 [2] · Oliver Wyman [4] · Kaspersky [5] · PagerDuty [7]</a:t>
            </a:r>
            <a:endParaRPr lang="en-US" sz="1200" dirty="0"/>
          </a:p>
        </p:txBody>
      </p:sp>
      <p:sp>
        <p:nvSpPr>
          <p:cNvPr id="28" name="Text 2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503A"/>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7D8B6A"/>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9C8AE"/>
                </a:solidFill>
                <a:latin typeface="JetBrains Mono" pitchFamily="49" charset="0"/>
                <a:ea typeface="JetBrains Mono" pitchFamily="49" charset="-122"/>
                <a:cs typeface="JetBrains Mono" pitchFamily="49" charset="-120"/>
              </a:rPr>
              <a:t>05 / INSIGHT</a:t>
            </a:r>
            <a:endParaRPr lang="en-US" sz="1200" dirty="0"/>
          </a:p>
        </p:txBody>
      </p:sp>
      <p:sp>
        <p:nvSpPr>
          <p:cNvPr id="4" name="Text 2"/>
          <p:cNvSpPr/>
          <p:nvPr>
            <p:ph type="title"/>
          </p:nvPr>
        </p:nvSpPr>
        <p:spPr>
          <a:xfrm>
            <a:off x="812800" y="13284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FBFAF7"/>
                </a:solidFill>
                <a:latin typeface="Hanken Grotesk" pitchFamily="34" charset="0"/>
                <a:ea typeface="Hanken Grotesk" pitchFamily="34" charset="-122"/>
                <a:cs typeface="Hanken Grotesk" pitchFamily="34" charset="-120"/>
              </a:rPr>
              <a:t>Three causes meet at one moment: the paste</a:t>
            </a:r>
            <a:endParaRPr lang="en-US" sz="3200" dirty="0"/>
          </a:p>
        </p:txBody>
      </p:sp>
      <p:sp>
        <p:nvSpPr>
          <p:cNvPr id="5" name="Shape 3"/>
          <p:cNvSpPr/>
          <p:nvPr/>
        </p:nvSpPr>
        <p:spPr>
          <a:xfrm>
            <a:off x="819150" y="1985011"/>
            <a:ext cx="3407807" cy="876300"/>
          </a:xfrm>
          <a:prstGeom prst="roundRect">
            <a:avLst>
              <a:gd name="adj" fmla="val 7971"/>
            </a:avLst>
          </a:prstGeom>
          <a:noFill/>
          <a:ln w="12700">
            <a:solidFill>
              <a:srgbClr val="7D8B6A"/>
            </a:solidFill>
            <a:prstDash val="solid"/>
          </a:ln>
        </p:spPr>
      </p:sp>
      <p:sp>
        <p:nvSpPr>
          <p:cNvPr id="6" name="Text 4"/>
          <p:cNvSpPr/>
          <p:nvPr/>
        </p:nvSpPr>
        <p:spPr>
          <a:xfrm>
            <a:off x="1013460" y="2153921"/>
            <a:ext cx="310976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9C8AE"/>
                </a:solidFill>
                <a:latin typeface="JetBrains Mono" pitchFamily="49" charset="0"/>
                <a:ea typeface="JetBrains Mono" pitchFamily="49" charset="-122"/>
                <a:cs typeface="JetBrains Mono" pitchFamily="49" charset="-120"/>
              </a:rPr>
              <a:t>TRAINING AND POLICY</a:t>
            </a:r>
            <a:endParaRPr lang="en-US" sz="1200" dirty="0"/>
          </a:p>
        </p:txBody>
      </p:sp>
      <p:sp>
        <p:nvSpPr>
          <p:cNvPr id="7" name="Text 5"/>
          <p:cNvSpPr/>
          <p:nvPr/>
        </p:nvSpPr>
        <p:spPr>
          <a:xfrm>
            <a:off x="1013460" y="2418082"/>
            <a:ext cx="31097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AF7"/>
                </a:solidFill>
                <a:latin typeface="Hanken Grotesk" pitchFamily="34" charset="0"/>
                <a:ea typeface="Hanken Grotesk" pitchFamily="34" charset="-122"/>
                <a:cs typeface="Hanken Grotesk" pitchFamily="34" charset="-120"/>
              </a:rPr>
              <a:t>act before it</a:t>
            </a:r>
            <a:endParaRPr lang="en-US" sz="1800" dirty="0"/>
          </a:p>
        </p:txBody>
      </p:sp>
      <p:sp>
        <p:nvSpPr>
          <p:cNvPr id="8" name="Shape 6"/>
          <p:cNvSpPr/>
          <p:nvPr/>
        </p:nvSpPr>
        <p:spPr>
          <a:xfrm>
            <a:off x="4392057" y="1985011"/>
            <a:ext cx="3407886" cy="876300"/>
          </a:xfrm>
          <a:prstGeom prst="roundRect">
            <a:avLst>
              <a:gd name="adj" fmla="val 7971"/>
            </a:avLst>
          </a:prstGeom>
          <a:noFill/>
          <a:ln w="12700">
            <a:solidFill>
              <a:srgbClr val="7D8B6A"/>
            </a:solidFill>
            <a:prstDash val="solid"/>
          </a:ln>
        </p:spPr>
      </p:sp>
      <p:sp>
        <p:nvSpPr>
          <p:cNvPr id="9" name="Text 7"/>
          <p:cNvSpPr/>
          <p:nvPr/>
        </p:nvSpPr>
        <p:spPr>
          <a:xfrm>
            <a:off x="4586367" y="2153921"/>
            <a:ext cx="310984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9C8AE"/>
                </a:solidFill>
                <a:latin typeface="JetBrains Mono" pitchFamily="49" charset="0"/>
                <a:ea typeface="JetBrains Mono" pitchFamily="49" charset="-122"/>
                <a:cs typeface="JetBrains Mono" pitchFamily="49" charset="-120"/>
              </a:rPr>
              <a:t>BANS</a:t>
            </a:r>
            <a:endParaRPr lang="en-US" sz="1200" dirty="0"/>
          </a:p>
        </p:txBody>
      </p:sp>
      <p:sp>
        <p:nvSpPr>
          <p:cNvPr id="10" name="Text 8"/>
          <p:cNvSpPr/>
          <p:nvPr/>
        </p:nvSpPr>
        <p:spPr>
          <a:xfrm>
            <a:off x="4586367" y="2418082"/>
            <a:ext cx="31098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AF7"/>
                </a:solidFill>
                <a:latin typeface="Hanken Grotesk" pitchFamily="34" charset="0"/>
                <a:ea typeface="Hanken Grotesk" pitchFamily="34" charset="-122"/>
                <a:cs typeface="Hanken Grotesk" pitchFamily="34" charset="-120"/>
              </a:rPr>
              <a:t>act around it</a:t>
            </a:r>
            <a:endParaRPr lang="en-US" sz="1800" dirty="0"/>
          </a:p>
        </p:txBody>
      </p:sp>
      <p:sp>
        <p:nvSpPr>
          <p:cNvPr id="11" name="Shape 9"/>
          <p:cNvSpPr/>
          <p:nvPr/>
        </p:nvSpPr>
        <p:spPr>
          <a:xfrm>
            <a:off x="7965043" y="1985011"/>
            <a:ext cx="3407807" cy="876300"/>
          </a:xfrm>
          <a:prstGeom prst="roundRect">
            <a:avLst>
              <a:gd name="adj" fmla="val 7971"/>
            </a:avLst>
          </a:prstGeom>
          <a:solidFill>
            <a:srgbClr val="FBFAF7"/>
          </a:solidFill>
          <a:ln w="12700">
            <a:solidFill>
              <a:srgbClr val="FBFAF7"/>
            </a:solidFill>
            <a:prstDash val="solid"/>
          </a:ln>
          <a:effectLst>
            <a:outerShdw sx="100000" sy="100000" kx="0" ky="0" algn="bl" rotWithShape="0" blurRad="0" dist="71842" dir="2700000">
              <a:srgbClr val="7D8B6A">
                <a:alpha val="100000"/>
              </a:srgbClr>
            </a:outerShdw>
          </a:effectLst>
        </p:spPr>
      </p:sp>
      <p:sp>
        <p:nvSpPr>
          <p:cNvPr id="12" name="Text 10"/>
          <p:cNvSpPr/>
          <p:nvPr/>
        </p:nvSpPr>
        <p:spPr>
          <a:xfrm>
            <a:off x="8159353" y="2153921"/>
            <a:ext cx="310976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NOTHING TODAY</a:t>
            </a:r>
            <a:endParaRPr lang="en-US" sz="1200" dirty="0"/>
          </a:p>
        </p:txBody>
      </p:sp>
      <p:sp>
        <p:nvSpPr>
          <p:cNvPr id="13" name="Text 11"/>
          <p:cNvSpPr/>
          <p:nvPr/>
        </p:nvSpPr>
        <p:spPr>
          <a:xfrm>
            <a:off x="8159353" y="2418082"/>
            <a:ext cx="31097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0F"/>
                </a:solidFill>
                <a:latin typeface="Hanken Grotesk" pitchFamily="34" charset="0"/>
                <a:ea typeface="Hanken Grotesk" pitchFamily="34" charset="-122"/>
                <a:cs typeface="Hanken Grotesk" pitchFamily="34" charset="-120"/>
              </a:rPr>
              <a:t>acts at it</a:t>
            </a:r>
            <a:endParaRPr lang="en-US" sz="1800" dirty="0"/>
          </a:p>
        </p:txBody>
      </p:sp>
      <p:sp>
        <p:nvSpPr>
          <p:cNvPr id="14" name="Text 12"/>
          <p:cNvSpPr/>
          <p:nvPr/>
        </p:nvSpPr>
        <p:spPr>
          <a:xfrm>
            <a:off x="812800" y="3070861"/>
            <a:ext cx="10883392" cy="33909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FBFAF7"/>
                </a:solidFill>
                <a:latin typeface="Hanken Grotesk" pitchFamily="34" charset="0"/>
                <a:ea typeface="Hanken Grotesk" pitchFamily="34" charset="-122"/>
                <a:cs typeface="Hanken Grotesk" pitchFamily="34" charset="-120"/>
              </a:rPr>
              <a:t>The lever: a control at the moment of use, inside an approved route that stays fast.</a:t>
            </a:r>
            <a:endParaRPr lang="en-US" sz="1900" dirty="0"/>
          </a:p>
        </p:txBody>
      </p:sp>
      <p:sp>
        <p:nvSpPr>
          <p:cNvPr id="15" name="Shape 13"/>
          <p:cNvSpPr/>
          <p:nvPr/>
        </p:nvSpPr>
        <p:spPr>
          <a:xfrm>
            <a:off x="812800" y="3606800"/>
            <a:ext cx="3420507" cy="0"/>
          </a:xfrm>
          <a:prstGeom prst="line">
            <a:avLst/>
          </a:prstGeom>
          <a:noFill/>
          <a:ln w="38100">
            <a:solidFill>
              <a:srgbClr val="B9C8AE"/>
            </a:solidFill>
            <a:prstDash val="solid"/>
          </a:ln>
        </p:spPr>
      </p:sp>
      <p:sp>
        <p:nvSpPr>
          <p:cNvPr id="16" name="Text 14"/>
          <p:cNvSpPr/>
          <p:nvPr/>
        </p:nvSpPr>
        <p:spPr>
          <a:xfrm>
            <a:off x="812800" y="3712211"/>
            <a:ext cx="352312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9C8AE"/>
                </a:solidFill>
                <a:latin typeface="JetBrains Mono" pitchFamily="49" charset="0"/>
                <a:ea typeface="JetBrains Mono" pitchFamily="49" charset="-122"/>
                <a:cs typeface="JetBrains Mono" pitchFamily="49" charset="-120"/>
              </a:rPr>
              <a:t>HELPS</a:t>
            </a:r>
            <a:endParaRPr lang="en-US" sz="1200" dirty="0"/>
          </a:p>
        </p:txBody>
      </p:sp>
      <p:sp>
        <p:nvSpPr>
          <p:cNvPr id="17" name="Text 15"/>
          <p:cNvSpPr/>
          <p:nvPr/>
        </p:nvSpPr>
        <p:spPr>
          <a:xfrm>
            <a:off x="812800" y="3963671"/>
            <a:ext cx="3523122"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AF7"/>
                </a:solidFill>
                <a:latin typeface="Hanken Grotesk" pitchFamily="34" charset="0"/>
                <a:ea typeface="Hanken Grotesk" pitchFamily="34" charset="-122"/>
                <a:cs typeface="Hanken Grotesk" pitchFamily="34" charset="-120"/>
              </a:rPr>
              <a:t>Causes 2, 3 and 4: a useful safe route, policy enforced where it matters, the risk made visible</a:t>
            </a:r>
            <a:endParaRPr lang="en-US" sz="1400" dirty="0"/>
          </a:p>
        </p:txBody>
      </p:sp>
      <p:sp>
        <p:nvSpPr>
          <p:cNvPr id="18" name="Shape 16"/>
          <p:cNvSpPr/>
          <p:nvPr/>
        </p:nvSpPr>
        <p:spPr>
          <a:xfrm>
            <a:off x="4385707" y="3606800"/>
            <a:ext cx="3420586" cy="0"/>
          </a:xfrm>
          <a:prstGeom prst="line">
            <a:avLst/>
          </a:prstGeom>
          <a:noFill/>
          <a:ln w="38100">
            <a:solidFill>
              <a:srgbClr val="7D8B6A"/>
            </a:solidFill>
            <a:prstDash val="solid"/>
          </a:ln>
        </p:spPr>
      </p:sp>
      <p:sp>
        <p:nvSpPr>
          <p:cNvPr id="19" name="Text 17"/>
          <p:cNvSpPr/>
          <p:nvPr/>
        </p:nvSpPr>
        <p:spPr>
          <a:xfrm>
            <a:off x="4385707" y="3712211"/>
            <a:ext cx="35232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9C8AE"/>
                </a:solidFill>
                <a:latin typeface="JetBrains Mono" pitchFamily="49" charset="0"/>
                <a:ea typeface="JetBrains Mono" pitchFamily="49" charset="-122"/>
                <a:cs typeface="JetBrains Mono" pitchFamily="49" charset="-120"/>
              </a:rPr>
              <a:t>PARTLY</a:t>
            </a:r>
            <a:endParaRPr lang="en-US" sz="1200" dirty="0"/>
          </a:p>
        </p:txBody>
      </p:sp>
      <p:sp>
        <p:nvSpPr>
          <p:cNvPr id="20" name="Text 18"/>
          <p:cNvSpPr/>
          <p:nvPr/>
        </p:nvSpPr>
        <p:spPr>
          <a:xfrm>
            <a:off x="4385707" y="3963671"/>
            <a:ext cx="352320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AF7"/>
                </a:solidFill>
                <a:latin typeface="Hanken Grotesk" pitchFamily="34" charset="0"/>
                <a:ea typeface="Hanken Grotesk" pitchFamily="34" charset="-122"/>
                <a:cs typeface="Hanken Grotesk" pitchFamily="34" charset="-120"/>
              </a:rPr>
              <a:t>Causes 1 and 5: speed pressure stays, but the safe path is no slower</a:t>
            </a:r>
            <a:endParaRPr lang="en-US" sz="1400" dirty="0"/>
          </a:p>
        </p:txBody>
      </p:sp>
      <p:sp>
        <p:nvSpPr>
          <p:cNvPr id="21" name="Shape 19"/>
          <p:cNvSpPr/>
          <p:nvPr/>
        </p:nvSpPr>
        <p:spPr>
          <a:xfrm>
            <a:off x="7958693" y="3606800"/>
            <a:ext cx="3420507" cy="0"/>
          </a:xfrm>
          <a:prstGeom prst="line">
            <a:avLst/>
          </a:prstGeom>
          <a:noFill/>
          <a:ln w="38100">
            <a:solidFill>
              <a:srgbClr val="D9926F"/>
            </a:solidFill>
            <a:prstDash val="solid"/>
          </a:ln>
        </p:spPr>
      </p:sp>
      <p:sp>
        <p:nvSpPr>
          <p:cNvPr id="22" name="Text 20"/>
          <p:cNvSpPr/>
          <p:nvPr/>
        </p:nvSpPr>
        <p:spPr>
          <a:xfrm>
            <a:off x="7958693" y="3712211"/>
            <a:ext cx="352312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E9B79B"/>
                </a:solidFill>
                <a:latin typeface="JetBrains Mono" pitchFamily="49" charset="0"/>
                <a:ea typeface="JetBrains Mono" pitchFamily="49" charset="-122"/>
                <a:cs typeface="JetBrains Mono" pitchFamily="49" charset="-120"/>
              </a:rPr>
              <a:t>DOES NOT REACH</a:t>
            </a:r>
            <a:endParaRPr lang="en-US" sz="1200" dirty="0"/>
          </a:p>
        </p:txBody>
      </p:sp>
      <p:sp>
        <p:nvSpPr>
          <p:cNvPr id="23" name="Text 21"/>
          <p:cNvSpPr/>
          <p:nvPr/>
        </p:nvSpPr>
        <p:spPr>
          <a:xfrm>
            <a:off x="7958693" y="3963671"/>
            <a:ext cx="352312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AF7"/>
                </a:solidFill>
                <a:latin typeface="Hanken Grotesk" pitchFamily="34" charset="0"/>
                <a:ea typeface="Hanken Grotesk" pitchFamily="34" charset="-122"/>
                <a:cs typeface="Hanken Grotesk" pitchFamily="34" charset="-120"/>
              </a:rPr>
              <a:t>Personal phones, how leaders set targets, AI built into other apps</a:t>
            </a:r>
            <a:endParaRPr lang="en-US" sz="1400" dirty="0"/>
          </a:p>
        </p:txBody>
      </p:sp>
      <p:sp>
        <p:nvSpPr>
          <p:cNvPr id="24" name="Text 2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DBC4"/>
                </a:solidFill>
                <a:latin typeface="JetBrains Mono" pitchFamily="49" charset="0"/>
                <a:ea typeface="JetBrains Mono" pitchFamily="49" charset="-122"/>
                <a:cs typeface="JetBrains Mono" pitchFamily="49" charset="-120"/>
              </a:rPr>
              <a:t>05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06 / OPTIONS COMPARED</a:t>
            </a:r>
            <a:endParaRPr lang="en-US" sz="1200" dirty="0"/>
          </a:p>
        </p:txBody>
      </p:sp>
      <p:sp>
        <p:nvSpPr>
          <p:cNvPr id="4" name="Text 2"/>
          <p:cNvSpPr/>
          <p:nvPr>
            <p:ph type="title"/>
          </p:nvPr>
        </p:nvSpPr>
        <p:spPr>
          <a:xfrm>
            <a:off x="812800" y="13284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Five ways to respond, one chosen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32942"/>
          <a:ext cx="10556240" cy="2834640"/>
        </p:xfrm>
        <a:graphic>
          <a:graphicData uri="http://schemas.openxmlformats.org/drawingml/2006/table">
            <a:tbl>
              <a:tblPr/>
              <a:tblGrid>
                <a:gridCol w="2744622"/>
                <a:gridCol w="2955747"/>
                <a:gridCol w="4855870"/>
              </a:tblGrid>
              <a:tr h="356870">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Option</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What it does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Where it falls short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A. Ban AI tools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Blocks AI at work</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Hides the use, doesn’t stop it (loop B)</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B. Policy and training only</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Tells people the rules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People still take shortcuts under time pressure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58801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C. A second AI judges every prompt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An LLM decides per prompt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Can be tricked by the prompt it judges, fails open on error [11][12], and sends the prompt to yet another AI</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58801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D. Buy a commercial gateway</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Existing products, e.g. Credal [13]</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Cost, and not built around SA data. A good option, not a bad one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58801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E. Clearance Gateway (chosen)</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AI reads the policy once; fixed rules decide each prompt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B1B9B1"/>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Doesn’t reach personal phones or AI built into other apps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B1B9B1"/>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r>
            </a:tbl>
          </a:graphicData>
        </a:graphic>
      </p:graphicFrame>
      <p:sp>
        <p:nvSpPr>
          <p:cNvPr id="6" name="Text 3"/>
          <p:cNvSpPr/>
          <p:nvPr/>
        </p:nvSpPr>
        <p:spPr>
          <a:xfrm>
            <a:off x="812800" y="4970782"/>
            <a:ext cx="10566400" cy="853440"/>
          </a:xfrm>
          <a:prstGeom prst="roundRect">
            <a:avLst>
              <a:gd name="adj" fmla="val 8929"/>
            </a:avLst>
          </a:prstGeom>
          <a:solidFill>
            <a:srgbClr val="12503A"/>
          </a:solidFill>
          <a:ln/>
          <a:effectLst>
            <a:outerShdw sx="100000" sy="100000" kx="0" ky="0" algn="bl" rotWithShape="0" blurRad="0" dist="71842" dir="2700000">
              <a:srgbClr val="7D8B6A">
                <a:alpha val="100000"/>
              </a:srgbClr>
            </a:outerShdw>
          </a:effectLst>
        </p:spPr>
        <p:txBody>
          <a:bodyPr wrap="square" lIns="206282" tIns="130082" rIns="0" bIns="104682" rtlCol="0" anchor="t">
            <a:normAutofit/>
          </a:bodyPr>
          <a:lstStyle/>
          <a:p>
            <a:pPr algn="l" indent="0" marL="0">
              <a:lnSpc>
                <a:spcPts val="2160"/>
              </a:lnSpc>
              <a:buNone/>
            </a:pPr>
            <a:r>
              <a:rPr lang="en-US" sz="1600" b="1" dirty="0">
                <a:solidFill>
                  <a:srgbClr val="FBFAF7"/>
                </a:solidFill>
                <a:latin typeface="Hanken Grotesk" pitchFamily="34" charset="0"/>
                <a:ea typeface="Hanken Grotesk" pitchFamily="34" charset="-122"/>
                <a:cs typeface="Hanken Grotesk" pitchFamily="34" charset="-120"/>
              </a:rPr>
              <a:t>Why E: it acts at the moment of use, keeps the safe route useful, and cannot be talked out of a decision, because no AI makes it.</a:t>
            </a:r>
            <a:endParaRPr lang="en-US" sz="1600" dirty="0"/>
          </a:p>
        </p:txBody>
      </p:sp>
      <p:sp>
        <p:nvSpPr>
          <p:cNvPr id="7" name="Text 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Sources: Lakera via NHI Mgmt [11] · Bifrost docs [12] · TechCrunch [13]</a:t>
            </a:r>
            <a:endParaRPr lang="en-US" sz="1200" dirty="0"/>
          </a:p>
        </p:txBody>
      </p:sp>
      <p:sp>
        <p:nvSpPr>
          <p:cNvPr id="8" name="Text 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092597"/>
            <a:ext cx="10566400" cy="0"/>
          </a:xfrm>
          <a:prstGeom prst="line">
            <a:avLst/>
          </a:prstGeom>
          <a:noFill/>
          <a:ln w="12700">
            <a:solidFill>
              <a:srgbClr val="14140F"/>
            </a:solidFill>
            <a:prstDash val="solid"/>
          </a:ln>
        </p:spPr>
      </p:sp>
      <p:sp>
        <p:nvSpPr>
          <p:cNvPr id="3" name="Text 1"/>
          <p:cNvSpPr/>
          <p:nvPr/>
        </p:nvSpPr>
        <p:spPr>
          <a:xfrm>
            <a:off x="812800" y="812800"/>
            <a:ext cx="10883392" cy="212487"/>
          </a:xfrm>
          <a:prstGeom prst="rect">
            <a:avLst/>
          </a:prstGeom>
          <a:noFill/>
          <a:ln/>
        </p:spPr>
        <p:txBody>
          <a:bodyPr wrap="square" lIns="0" tIns="0" rIns="0" bIns="0" rtlCol="0" anchor="t">
            <a:normAutofit/>
          </a:bodyPr>
          <a:lstStyle/>
          <a:p>
            <a:pPr algn="l" indent="0" marL="0">
              <a:lnSpc>
                <a:spcPts val="1491"/>
              </a:lnSpc>
              <a:buNone/>
            </a:pPr>
            <a:r>
              <a:rPr lang="en-US" sz="1065" spc="100" kern="0" dirty="0">
                <a:solidFill>
                  <a:srgbClr val="12503A"/>
                </a:solidFill>
                <a:latin typeface="JetBrains Mono" pitchFamily="49" charset="0"/>
                <a:ea typeface="JetBrains Mono" pitchFamily="49" charset="-122"/>
                <a:cs typeface="JetBrains Mono" pitchFamily="49" charset="-120"/>
              </a:rPr>
              <a:t>07 / THE INTERVENTION</a:t>
            </a:r>
            <a:endParaRPr lang="en-US" sz="1065" dirty="0"/>
          </a:p>
        </p:txBody>
      </p:sp>
      <p:sp>
        <p:nvSpPr>
          <p:cNvPr id="4" name="Text 2"/>
          <p:cNvSpPr/>
          <p:nvPr>
            <p:ph type="title"/>
          </p:nvPr>
        </p:nvSpPr>
        <p:spPr>
          <a:xfrm>
            <a:off x="812800" y="1302147"/>
            <a:ext cx="10883392" cy="368379"/>
          </a:xfrm>
          <a:prstGeom prst="rect">
            <a:avLst/>
          </a:prstGeom>
          <a:noFill/>
          <a:ln/>
        </p:spPr>
        <p:txBody>
          <a:bodyPr wrap="square" lIns="0" tIns="0" rIns="0" bIns="0" rtlCol="0" anchor="t">
            <a:normAutofit/>
          </a:bodyPr>
          <a:lstStyle/>
          <a:p>
            <a:pPr algn="l" indent="0" marL="0">
              <a:lnSpc>
                <a:spcPts val="2724"/>
              </a:lnSpc>
              <a:buNone/>
            </a:pPr>
            <a:r>
              <a:rPr lang="en-US" sz="2476" b="1" i="0" spc="-50" kern="0" dirty="0">
                <a:solidFill>
                  <a:srgbClr val="14140F"/>
                </a:solidFill>
                <a:latin typeface="Hanken Grotesk" pitchFamily="34" charset="0"/>
                <a:ea typeface="Hanken Grotesk" pitchFamily="34" charset="-122"/>
                <a:cs typeface="Hanken Grotesk" pitchFamily="34" charset="-120"/>
              </a:rPr>
              <a:t>The AI reads the policy once. Fixed rules decide every prompt.</a:t>
            </a:r>
            <a:endParaRPr lang="en-US" sz="2476" dirty="0"/>
          </a:p>
        </p:txBody>
      </p:sp>
      <p:sp>
        <p:nvSpPr>
          <p:cNvPr id="5" name="Shape 3"/>
          <p:cNvSpPr/>
          <p:nvPr/>
        </p:nvSpPr>
        <p:spPr>
          <a:xfrm>
            <a:off x="812800" y="1848327"/>
            <a:ext cx="5080000" cy="3524250"/>
          </a:xfrm>
          <a:prstGeom prst="roundRect">
            <a:avLst>
              <a:gd name="adj" fmla="val 2162"/>
            </a:avLst>
          </a:prstGeom>
          <a:solidFill>
            <a:srgbClr val="FFFEFB"/>
          </a:solidFill>
          <a:ln/>
        </p:spPr>
      </p:sp>
      <p:pic>
        <p:nvPicPr>
          <p:cNvPr id="6" name="Image 0" descr="Clearance Gateway architecture: admin console, policy compiler, gateway pipeline, providers and audit store">    </p:cNvPr>
          <p:cNvPicPr>
            <a:picLocks noChangeAspect="1"/>
          </p:cNvPicPr>
          <p:nvPr/>
        </p:nvPicPr>
        <p:blipFill>
          <a:blip r:embed="rId1"/>
          <a:srcRect l="-97" r="-97" t="0" b="0"/>
          <a:stretch/>
        </p:blipFill>
        <p:spPr>
          <a:xfrm>
            <a:off x="825500" y="1861027"/>
            <a:ext cx="5054600" cy="3498850"/>
          </a:xfrm>
          <a:prstGeom prst="roundRect">
            <a:avLst>
              <a:gd name="adj" fmla="val 1815"/>
            </a:avLst>
          </a:prstGeom>
        </p:spPr>
      </p:pic>
      <p:sp>
        <p:nvSpPr>
          <p:cNvPr id="7" name="Shape 4"/>
          <p:cNvSpPr/>
          <p:nvPr/>
        </p:nvSpPr>
        <p:spPr>
          <a:xfrm>
            <a:off x="819150" y="1854677"/>
            <a:ext cx="5067300" cy="3511550"/>
          </a:xfrm>
          <a:prstGeom prst="roundRect">
            <a:avLst>
              <a:gd name="adj" fmla="val 1989"/>
            </a:avLst>
          </a:prstGeom>
          <a:noFill/>
          <a:ln w="12700">
            <a:solidFill>
              <a:srgbClr val="14140F"/>
            </a:solidFill>
            <a:prstDash val="solid"/>
          </a:ln>
        </p:spPr>
      </p:sp>
      <p:sp>
        <p:nvSpPr>
          <p:cNvPr id="8" name="Text 5"/>
          <p:cNvSpPr/>
          <p:nvPr/>
        </p:nvSpPr>
        <p:spPr>
          <a:xfrm>
            <a:off x="6146800" y="1848327"/>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1</a:t>
            </a:r>
            <a:endParaRPr lang="en-US" sz="1300" dirty="0"/>
          </a:p>
        </p:txBody>
      </p:sp>
      <p:sp>
        <p:nvSpPr>
          <p:cNvPr id="9" name="Text 6"/>
          <p:cNvSpPr/>
          <p:nvPr/>
        </p:nvSpPr>
        <p:spPr>
          <a:xfrm>
            <a:off x="6527800" y="1848327"/>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Find sensitive data</a:t>
            </a:r>
            <a:endParaRPr lang="en-US" sz="1400" dirty="0"/>
          </a:p>
        </p:txBody>
      </p:sp>
      <p:sp>
        <p:nvSpPr>
          <p:cNvPr id="10" name="Text 7"/>
          <p:cNvSpPr/>
          <p:nvPr/>
        </p:nvSpPr>
        <p:spPr>
          <a:xfrm>
            <a:off x="6527800" y="2074388"/>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SA ID (date and Luhn), cards, accounts, emails, phones, keys</a:t>
            </a:r>
            <a:endParaRPr lang="en-US" sz="1200" dirty="0"/>
          </a:p>
        </p:txBody>
      </p:sp>
      <p:sp>
        <p:nvSpPr>
          <p:cNvPr id="11" name="Text 8"/>
          <p:cNvSpPr/>
          <p:nvPr/>
        </p:nvSpPr>
        <p:spPr>
          <a:xfrm>
            <a:off x="6146800" y="2348706"/>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2</a:t>
            </a:r>
            <a:endParaRPr lang="en-US" sz="1300" dirty="0"/>
          </a:p>
        </p:txBody>
      </p:sp>
      <p:sp>
        <p:nvSpPr>
          <p:cNvPr id="12" name="Text 9"/>
          <p:cNvSpPr/>
          <p:nvPr/>
        </p:nvSpPr>
        <p:spPr>
          <a:xfrm>
            <a:off x="6527800" y="2348706"/>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Decide by role</a:t>
            </a:r>
            <a:endParaRPr lang="en-US" sz="1400" dirty="0"/>
          </a:p>
        </p:txBody>
      </p:sp>
      <p:sp>
        <p:nvSpPr>
          <p:cNvPr id="13" name="Text 10"/>
          <p:cNvSpPr/>
          <p:nvPr/>
        </p:nvSpPr>
        <p:spPr>
          <a:xfrm>
            <a:off x="6527800" y="2574767"/>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Allow, redact, tokenise or block, from the active policy</a:t>
            </a:r>
            <a:endParaRPr lang="en-US" sz="1200" dirty="0"/>
          </a:p>
        </p:txBody>
      </p:sp>
      <p:sp>
        <p:nvSpPr>
          <p:cNvPr id="14" name="Text 11"/>
          <p:cNvSpPr/>
          <p:nvPr/>
        </p:nvSpPr>
        <p:spPr>
          <a:xfrm>
            <a:off x="6146800" y="2849088"/>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3</a:t>
            </a:r>
            <a:endParaRPr lang="en-US" sz="1300" dirty="0"/>
          </a:p>
        </p:txBody>
      </p:sp>
      <p:sp>
        <p:nvSpPr>
          <p:cNvPr id="15" name="Text 12"/>
          <p:cNvSpPr/>
          <p:nvPr/>
        </p:nvSpPr>
        <p:spPr>
          <a:xfrm>
            <a:off x="6527800" y="2849088"/>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Transform</a:t>
            </a:r>
            <a:endParaRPr lang="en-US" sz="1400" dirty="0"/>
          </a:p>
        </p:txBody>
      </p:sp>
      <p:sp>
        <p:nvSpPr>
          <p:cNvPr id="16" name="Text 13"/>
          <p:cNvSpPr/>
          <p:nvPr/>
        </p:nvSpPr>
        <p:spPr>
          <a:xfrm>
            <a:off x="6527800" y="3075146"/>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Replace values before anything leaves</a:t>
            </a:r>
            <a:endParaRPr lang="en-US" sz="1200" dirty="0"/>
          </a:p>
        </p:txBody>
      </p:sp>
      <p:sp>
        <p:nvSpPr>
          <p:cNvPr id="17" name="Text 14"/>
          <p:cNvSpPr/>
          <p:nvPr/>
        </p:nvSpPr>
        <p:spPr>
          <a:xfrm>
            <a:off x="6146800" y="3349467"/>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4</a:t>
            </a:r>
            <a:endParaRPr lang="en-US" sz="1300" dirty="0"/>
          </a:p>
        </p:txBody>
      </p:sp>
      <p:sp>
        <p:nvSpPr>
          <p:cNvPr id="18" name="Text 15"/>
          <p:cNvSpPr/>
          <p:nvPr/>
        </p:nvSpPr>
        <p:spPr>
          <a:xfrm>
            <a:off x="6527800" y="3349467"/>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Route, fail closed</a:t>
            </a:r>
            <a:endParaRPr lang="en-US" sz="1400" dirty="0"/>
          </a:p>
        </p:txBody>
      </p:sp>
      <p:sp>
        <p:nvSpPr>
          <p:cNvPr id="19" name="Text 16"/>
          <p:cNvSpPr/>
          <p:nvPr/>
        </p:nvSpPr>
        <p:spPr>
          <a:xfrm>
            <a:off x="6527800" y="3575527"/>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Only to a cleared provider; none cleared means blocked</a:t>
            </a:r>
            <a:endParaRPr lang="en-US" sz="1200" dirty="0"/>
          </a:p>
        </p:txBody>
      </p:sp>
      <p:sp>
        <p:nvSpPr>
          <p:cNvPr id="20" name="Text 17"/>
          <p:cNvSpPr/>
          <p:nvPr/>
        </p:nvSpPr>
        <p:spPr>
          <a:xfrm>
            <a:off x="6146800" y="3849846"/>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5</a:t>
            </a:r>
            <a:endParaRPr lang="en-US" sz="1300" dirty="0"/>
          </a:p>
        </p:txBody>
      </p:sp>
      <p:sp>
        <p:nvSpPr>
          <p:cNvPr id="21" name="Text 18"/>
          <p:cNvSpPr/>
          <p:nvPr/>
        </p:nvSpPr>
        <p:spPr>
          <a:xfrm>
            <a:off x="6527800" y="3849846"/>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Check the reply</a:t>
            </a:r>
            <a:endParaRPr lang="en-US" sz="1400" dirty="0"/>
          </a:p>
        </p:txBody>
      </p:sp>
      <p:sp>
        <p:nvSpPr>
          <p:cNvPr id="22" name="Text 19"/>
          <p:cNvSpPr/>
          <p:nvPr/>
        </p:nvSpPr>
        <p:spPr>
          <a:xfrm>
            <a:off x="6527800" y="4075906"/>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Output guard on the way back</a:t>
            </a:r>
            <a:endParaRPr lang="en-US" sz="1200" dirty="0"/>
          </a:p>
        </p:txBody>
      </p:sp>
      <p:sp>
        <p:nvSpPr>
          <p:cNvPr id="23" name="Text 20"/>
          <p:cNvSpPr/>
          <p:nvPr/>
        </p:nvSpPr>
        <p:spPr>
          <a:xfrm>
            <a:off x="6146800" y="4350227"/>
            <a:ext cx="279400" cy="256540"/>
          </a:xfrm>
          <a:custGeom>
            <a:avLst/>
            <a:gdLst/>
            <a:ahLst/>
            <a:cxnLst/>
            <a:rect l="l" t="t" r="r" b="b"/>
            <a:pathLst>
              <a:path w="279400" h="256540">
                <a:moveTo>
                  <a:pt x="38100" y="0"/>
                </a:moveTo>
                <a:lnTo>
                  <a:pt x="241300" y="0"/>
                </a:lnTo>
                <a:arcTo hR="38100" wR="38100" stAng="16200000" swAng="5400000"/>
                <a:lnTo>
                  <a:pt x="279400" y="218440"/>
                </a:lnTo>
                <a:arcTo hR="38100" wR="38100" stAng="0" swAng="5400000"/>
                <a:lnTo>
                  <a:pt x="38100" y="256540"/>
                </a:lnTo>
                <a:arcTo hR="38100" wR="38100" stAng="5400000" swAng="5400000"/>
                <a:lnTo>
                  <a:pt x="0" y="38100"/>
                </a:lnTo>
                <a:arcTo hR="38100" wR="38100" stAng="10800000" swAng="5400000"/>
                <a:close/>
              </a:path>
            </a:pathLst>
          </a:custGeom>
          <a:solidFill>
            <a:srgbClr val="12503A"/>
          </a:solidFill>
          <a:ln/>
        </p:spPr>
        <p:txBody>
          <a:bodyPr wrap="square" lIns="0" tIns="12700" rIns="0" bIns="0" rtlCol="0" anchor="t">
            <a:normAutofit/>
          </a:bodyPr>
          <a:lstStyle/>
          <a:p>
            <a:pPr algn="ctr" indent="0" marL="0">
              <a:lnSpc>
                <a:spcPts val="1820"/>
              </a:lnSpc>
              <a:buNone/>
            </a:pPr>
            <a:r>
              <a:rPr lang="en-US" sz="1300" b="1" dirty="0">
                <a:solidFill>
                  <a:srgbClr val="FBFAF7"/>
                </a:solidFill>
                <a:latin typeface="JetBrains Mono" pitchFamily="49" charset="0"/>
                <a:ea typeface="JetBrains Mono" pitchFamily="49" charset="-122"/>
                <a:cs typeface="JetBrains Mono" pitchFamily="49" charset="-120"/>
              </a:rPr>
              <a:t>6</a:t>
            </a:r>
            <a:endParaRPr lang="en-US" sz="1300" dirty="0"/>
          </a:p>
        </p:txBody>
      </p:sp>
      <p:sp>
        <p:nvSpPr>
          <p:cNvPr id="24" name="Text 21"/>
          <p:cNvSpPr/>
          <p:nvPr/>
        </p:nvSpPr>
        <p:spPr>
          <a:xfrm>
            <a:off x="6527800" y="4350227"/>
            <a:ext cx="499694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Explain and audit</a:t>
            </a:r>
            <a:endParaRPr lang="en-US" sz="1400" dirty="0"/>
          </a:p>
        </p:txBody>
      </p:sp>
      <p:sp>
        <p:nvSpPr>
          <p:cNvPr id="25" name="Text 22"/>
          <p:cNvSpPr/>
          <p:nvPr/>
        </p:nvSpPr>
        <p:spPr>
          <a:xfrm>
            <a:off x="6527800" y="4576288"/>
            <a:ext cx="499694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Reason shown to the user; metadata only, no prompt text</a:t>
            </a:r>
            <a:endParaRPr lang="en-US" sz="1200" dirty="0"/>
          </a:p>
        </p:txBody>
      </p:sp>
      <p:sp>
        <p:nvSpPr>
          <p:cNvPr id="26" name="Text 23"/>
          <p:cNvSpPr/>
          <p:nvPr/>
        </p:nvSpPr>
        <p:spPr>
          <a:xfrm>
            <a:off x="812800" y="5141674"/>
            <a:ext cx="10566400" cy="700326"/>
          </a:xfrm>
          <a:prstGeom prst="roundRect">
            <a:avLst>
              <a:gd name="adj" fmla="val 10881"/>
            </a:avLst>
          </a:prstGeom>
          <a:solidFill>
            <a:srgbClr val="12503A"/>
          </a:solidFill>
          <a:ln/>
          <a:effectLst>
            <a:outerShdw sx="100000" sy="100000" kx="0" ky="0" algn="bl" rotWithShape="0" blurRad="0" dist="71842" dir="2700000">
              <a:srgbClr val="7D8B6A">
                <a:alpha val="100000"/>
              </a:srgbClr>
            </a:outerShdw>
          </a:effectLst>
        </p:spPr>
        <p:txBody>
          <a:bodyPr wrap="square" lIns="180882" tIns="117382" rIns="0" bIns="91982" rtlCol="0" anchor="t">
            <a:normAutofit/>
          </a:bodyPr>
          <a:lstStyle/>
          <a:p>
            <a:pPr algn="l" indent="0" marL="0">
              <a:lnSpc>
                <a:spcPts val="1660"/>
              </a:lnSpc>
              <a:buNone/>
            </a:pPr>
            <a:r>
              <a:rPr lang="en-US" sz="1229" b="1" dirty="0">
                <a:solidFill>
                  <a:srgbClr val="FBFAF7"/>
                </a:solidFill>
                <a:latin typeface="Hanken Grotesk" pitchFamily="34" charset="0"/>
                <a:ea typeface="Hanken Grotesk" pitchFamily="34" charset="-122"/>
                <a:cs typeface="Hanken Grotesk" pitchFamily="34" charset="-120"/>
              </a:rPr>
              <a:t>Policy lifecycle: admin writes in plain English → AI drafts rules once → a person reviews the decision diff → activate. A policy floor refuses anything looser than the baseline.</a:t>
            </a:r>
            <a:endParaRPr lang="en-US" sz="1229" dirty="0"/>
          </a:p>
        </p:txBody>
      </p:sp>
      <p:sp>
        <p:nvSpPr>
          <p:cNvPr id="27" name="Text 24"/>
          <p:cNvSpPr/>
          <p:nvPr/>
        </p:nvSpPr>
        <p:spPr>
          <a:xfrm>
            <a:off x="812800" y="6024882"/>
            <a:ext cx="915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Tiers are demo configuration, not claims about any vendor · Lens extension applies the same checks on other AI sites</a:t>
            </a:r>
            <a:endParaRPr lang="en-US" sz="1200" dirty="0"/>
          </a:p>
        </p:txBody>
      </p:sp>
      <p:sp>
        <p:nvSpPr>
          <p:cNvPr id="28" name="Text 2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7759"/>
            <a:ext cx="10566400" cy="0"/>
          </a:xfrm>
          <a:prstGeom prst="line">
            <a:avLst/>
          </a:prstGeom>
          <a:noFill/>
          <a:ln w="12700">
            <a:solidFill>
              <a:srgbClr val="14140F"/>
            </a:solidFill>
            <a:prstDash val="solid"/>
          </a:ln>
        </p:spPr>
      </p:sp>
      <p:sp>
        <p:nvSpPr>
          <p:cNvPr id="3" name="Text 1"/>
          <p:cNvSpPr/>
          <p:nvPr/>
        </p:nvSpPr>
        <p:spPr>
          <a:xfrm>
            <a:off x="812800" y="812800"/>
            <a:ext cx="10883392" cy="23764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08 / DEMO</a:t>
            </a:r>
            <a:endParaRPr lang="en-US" sz="1200" dirty="0"/>
          </a:p>
        </p:txBody>
      </p:sp>
      <p:sp>
        <p:nvSpPr>
          <p:cNvPr id="4" name="Text 2"/>
          <p:cNvSpPr/>
          <p:nvPr>
            <p:ph type="title"/>
          </p:nvPr>
        </p:nvSpPr>
        <p:spPr>
          <a:xfrm>
            <a:off x="812800" y="1327308"/>
            <a:ext cx="10883392" cy="414417"/>
          </a:xfrm>
          <a:prstGeom prst="rect">
            <a:avLst/>
          </a:prstGeom>
          <a:noFill/>
          <a:ln/>
        </p:spPr>
        <p:txBody>
          <a:bodyPr wrap="square" lIns="0" tIns="0" rIns="0" bIns="0" rtlCol="0" anchor="t">
            <a:normAutofit/>
          </a:bodyPr>
          <a:lstStyle/>
          <a:p>
            <a:pPr algn="l" indent="0" marL="0">
              <a:lnSpc>
                <a:spcPts val="3070"/>
              </a:lnSpc>
              <a:buNone/>
            </a:pPr>
            <a:r>
              <a:rPr lang="en-US" sz="2791" b="1" i="0" spc="-50" kern="0" dirty="0">
                <a:solidFill>
                  <a:srgbClr val="14140F"/>
                </a:solidFill>
                <a:latin typeface="Hanken Grotesk" pitchFamily="34" charset="0"/>
                <a:ea typeface="Hanken Grotesk" pitchFamily="34" charset="-122"/>
                <a:cs typeface="Hanken Grotesk" pitchFamily="34" charset="-120"/>
              </a:rPr>
              <a:t>One prompt, one outage, one policy change</a:t>
            </a:r>
            <a:endParaRPr lang="en-US" sz="2791" dirty="0"/>
          </a:p>
        </p:txBody>
      </p:sp>
      <p:sp>
        <p:nvSpPr>
          <p:cNvPr id="5" name="Text 3"/>
          <p:cNvSpPr/>
          <p:nvPr/>
        </p:nvSpPr>
        <p:spPr>
          <a:xfrm>
            <a:off x="812800" y="1919526"/>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1 · PROTECT</a:t>
            </a:r>
            <a:endParaRPr lang="en-US" sz="1200" dirty="0"/>
          </a:p>
        </p:txBody>
      </p:sp>
      <p:sp>
        <p:nvSpPr>
          <p:cNvPr id="6" name="Shape 4"/>
          <p:cNvSpPr/>
          <p:nvPr/>
        </p:nvSpPr>
        <p:spPr>
          <a:xfrm>
            <a:off x="812800" y="2234487"/>
            <a:ext cx="3384550" cy="2159000"/>
          </a:xfrm>
          <a:prstGeom prst="roundRect">
            <a:avLst>
              <a:gd name="adj" fmla="val 2353"/>
            </a:avLst>
          </a:prstGeom>
          <a:solidFill>
            <a:srgbClr val="EEF1E8"/>
          </a:solidFill>
          <a:ln/>
        </p:spPr>
      </p:sp>
      <p:pic>
        <p:nvPicPr>
          <p:cNvPr id="7" name="Image 0" descr="Assistant screen: a synthetic SA ID number replaced before the prompt is sent">    </p:cNvPr>
          <p:cNvPicPr>
            <a:picLocks noChangeAspect="1"/>
          </p:cNvPicPr>
          <p:nvPr/>
        </p:nvPicPr>
        <p:blipFill>
          <a:blip r:embed="rId1"/>
          <a:stretch>
            <a:fillRect/>
          </a:stretch>
        </p:blipFill>
        <p:spPr>
          <a:xfrm>
            <a:off x="825500" y="2290496"/>
            <a:ext cx="3359150" cy="2046982"/>
          </a:xfrm>
          <a:prstGeom prst="rect">
            <a:avLst/>
          </a:prstGeom>
        </p:spPr>
      </p:pic>
      <p:sp>
        <p:nvSpPr>
          <p:cNvPr id="8" name="Shape 5"/>
          <p:cNvSpPr/>
          <p:nvPr/>
        </p:nvSpPr>
        <p:spPr>
          <a:xfrm>
            <a:off x="819150" y="2240837"/>
            <a:ext cx="3371850" cy="2146300"/>
          </a:xfrm>
          <a:prstGeom prst="roundRect">
            <a:avLst>
              <a:gd name="adj" fmla="val 2071"/>
            </a:avLst>
          </a:prstGeom>
          <a:noFill/>
          <a:ln w="12700">
            <a:solidFill>
              <a:srgbClr val="14140F"/>
            </a:solidFill>
            <a:prstDash val="solid"/>
          </a:ln>
        </p:spPr>
      </p:sp>
      <p:sp>
        <p:nvSpPr>
          <p:cNvPr id="9" name="Text 6"/>
          <p:cNvSpPr/>
          <p:nvPr/>
        </p:nvSpPr>
        <p:spPr>
          <a:xfrm>
            <a:off x="812800" y="4495087"/>
            <a:ext cx="348821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A synthetic SA ID number is replaced before sending, and the reply says why.</a:t>
            </a:r>
            <a:endParaRPr lang="en-US" sz="1300" dirty="0"/>
          </a:p>
        </p:txBody>
      </p:sp>
      <p:sp>
        <p:nvSpPr>
          <p:cNvPr id="10" name="Text 7"/>
          <p:cNvSpPr/>
          <p:nvPr/>
        </p:nvSpPr>
        <p:spPr>
          <a:xfrm>
            <a:off x="4402614" y="1919526"/>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A65D3A"/>
                </a:solidFill>
                <a:latin typeface="JetBrains Mono" pitchFamily="49" charset="0"/>
                <a:ea typeface="JetBrains Mono" pitchFamily="49" charset="-122"/>
                <a:cs typeface="JetBrains Mono" pitchFamily="49" charset="-120"/>
              </a:rPr>
              <a:t>2 · FAIL CLOSED</a:t>
            </a:r>
            <a:endParaRPr lang="en-US" sz="1200" dirty="0"/>
          </a:p>
        </p:txBody>
      </p:sp>
      <p:sp>
        <p:nvSpPr>
          <p:cNvPr id="11" name="Shape 8"/>
          <p:cNvSpPr/>
          <p:nvPr/>
        </p:nvSpPr>
        <p:spPr>
          <a:xfrm>
            <a:off x="4402614" y="2234487"/>
            <a:ext cx="3384550" cy="2159000"/>
          </a:xfrm>
          <a:prstGeom prst="roundRect">
            <a:avLst>
              <a:gd name="adj" fmla="val 2353"/>
            </a:avLst>
          </a:prstGeom>
          <a:solidFill>
            <a:srgbClr val="EEF1E8"/>
          </a:solidFill>
          <a:ln/>
        </p:spPr>
      </p:sp>
      <p:pic>
        <p:nvPicPr>
          <p:cNvPr id="12" name="Image 1" descr="Blocked request: the approved provider is down and no other provider is cleared">    </p:cNvPr>
          <p:cNvPicPr>
            <a:picLocks noChangeAspect="1"/>
          </p:cNvPicPr>
          <p:nvPr/>
        </p:nvPicPr>
        <p:blipFill>
          <a:blip r:embed="rId2"/>
          <a:stretch>
            <a:fillRect/>
          </a:stretch>
        </p:blipFill>
        <p:spPr>
          <a:xfrm>
            <a:off x="4415314" y="2697268"/>
            <a:ext cx="3359150" cy="1233438"/>
          </a:xfrm>
          <a:prstGeom prst="rect">
            <a:avLst/>
          </a:prstGeom>
        </p:spPr>
      </p:pic>
      <p:sp>
        <p:nvSpPr>
          <p:cNvPr id="13" name="Shape 9"/>
          <p:cNvSpPr/>
          <p:nvPr/>
        </p:nvSpPr>
        <p:spPr>
          <a:xfrm>
            <a:off x="4408964" y="2240837"/>
            <a:ext cx="3371850" cy="2146300"/>
          </a:xfrm>
          <a:prstGeom prst="roundRect">
            <a:avLst>
              <a:gd name="adj" fmla="val 2071"/>
            </a:avLst>
          </a:prstGeom>
          <a:noFill/>
          <a:ln w="12700">
            <a:solidFill>
              <a:srgbClr val="14140F"/>
            </a:solidFill>
            <a:prstDash val="solid"/>
          </a:ln>
        </p:spPr>
      </p:sp>
      <p:sp>
        <p:nvSpPr>
          <p:cNvPr id="14" name="Text 10"/>
          <p:cNvSpPr/>
          <p:nvPr/>
        </p:nvSpPr>
        <p:spPr>
          <a:xfrm>
            <a:off x="4402614" y="4495087"/>
            <a:ext cx="348829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Approved provider down: the confidential request is blocked, not sent to a lower tier.</a:t>
            </a:r>
            <a:endParaRPr lang="en-US" sz="1300" dirty="0"/>
          </a:p>
        </p:txBody>
      </p:sp>
      <p:sp>
        <p:nvSpPr>
          <p:cNvPr id="15" name="Text 11"/>
          <p:cNvSpPr/>
          <p:nvPr/>
        </p:nvSpPr>
        <p:spPr>
          <a:xfrm>
            <a:off x="7992507" y="1919526"/>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3 · HUMAN IN CHARGE</a:t>
            </a:r>
            <a:endParaRPr lang="en-US" sz="1200" dirty="0"/>
          </a:p>
        </p:txBody>
      </p:sp>
      <p:sp>
        <p:nvSpPr>
          <p:cNvPr id="16" name="Shape 12"/>
          <p:cNvSpPr/>
          <p:nvPr/>
        </p:nvSpPr>
        <p:spPr>
          <a:xfrm>
            <a:off x="7992507" y="2234487"/>
            <a:ext cx="3384550" cy="2159000"/>
          </a:xfrm>
          <a:prstGeom prst="roundRect">
            <a:avLst>
              <a:gd name="adj" fmla="val 2353"/>
            </a:avLst>
          </a:prstGeom>
          <a:solidFill>
            <a:srgbClr val="EEF1E8"/>
          </a:solidFill>
          <a:ln/>
        </p:spPr>
      </p:sp>
      <p:pic>
        <p:nvPicPr>
          <p:cNvPr id="17" name="Image 2" descr="Policy decision diff for a deliberately looser policy, with 98 changes that would loosen protection">    </p:cNvPr>
          <p:cNvPicPr>
            <a:picLocks noChangeAspect="1"/>
          </p:cNvPicPr>
          <p:nvPr/>
        </p:nvPicPr>
        <p:blipFill>
          <a:blip r:embed="rId3"/>
          <a:stretch>
            <a:fillRect/>
          </a:stretch>
        </p:blipFill>
        <p:spPr>
          <a:xfrm>
            <a:off x="8005207" y="2264252"/>
            <a:ext cx="3359150" cy="2099469"/>
          </a:xfrm>
          <a:custGeom>
            <a:avLst/>
            <a:gdLst/>
            <a:ahLst/>
            <a:cxnLst/>
            <a:rect l="l" t="t" r="r" b="b"/>
            <a:pathLst>
              <a:path w="3359150" h="2099469">
                <a:moveTo>
                  <a:pt x="0" y="21034"/>
                </a:moveTo>
                <a:arcTo wR="38100" hR="38100" stAng="10800000" swAng="2010603"/>
                <a:lnTo>
                  <a:pt x="3352817" y="0"/>
                </a:lnTo>
                <a:arcTo wR="38100" hR="38100" stAng="19589397" swAng="2010603"/>
                <a:lnTo>
                  <a:pt x="3359150" y="2078434"/>
                </a:lnTo>
                <a:arcTo wR="38100" hR="38100" stAng="0" swAng="2010603"/>
                <a:lnTo>
                  <a:pt x="6333" y="2099469"/>
                </a:lnTo>
                <a:arcTo wR="38100" hR="38100" stAng="8789397" swAng="2010603"/>
                <a:close/>
              </a:path>
            </a:pathLst>
          </a:custGeom>
        </p:spPr>
      </p:pic>
      <p:sp>
        <p:nvSpPr>
          <p:cNvPr id="18" name="Shape 13"/>
          <p:cNvSpPr/>
          <p:nvPr/>
        </p:nvSpPr>
        <p:spPr>
          <a:xfrm>
            <a:off x="7998857" y="2240837"/>
            <a:ext cx="3371850" cy="2146300"/>
          </a:xfrm>
          <a:prstGeom prst="roundRect">
            <a:avLst>
              <a:gd name="adj" fmla="val 2071"/>
            </a:avLst>
          </a:prstGeom>
          <a:noFill/>
          <a:ln w="12700">
            <a:solidFill>
              <a:srgbClr val="14140F"/>
            </a:solidFill>
            <a:prstDash val="solid"/>
          </a:ln>
        </p:spPr>
      </p:sp>
      <p:sp>
        <p:nvSpPr>
          <p:cNvPr id="19" name="Text 14"/>
          <p:cNvSpPr/>
          <p:nvPr/>
        </p:nvSpPr>
        <p:spPr>
          <a:xfrm>
            <a:off x="7992507" y="4495087"/>
            <a:ext cx="3488294"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A deliberately looser policy shows 98 decisions that would loosen protection. The floor refuses it.</a:t>
            </a:r>
            <a:endParaRPr lang="en-US" sz="1300" dirty="0"/>
          </a:p>
        </p:txBody>
      </p:sp>
      <p:sp>
        <p:nvSpPr>
          <p:cNvPr id="20" name="Text 15"/>
          <p:cNvSpPr/>
          <p:nvPr/>
        </p:nvSpPr>
        <p:spPr>
          <a:xfrm>
            <a:off x="812800" y="5349242"/>
            <a:ext cx="10566400" cy="492760"/>
          </a:xfrm>
          <a:prstGeom prst="roundRect">
            <a:avLst>
              <a:gd name="adj" fmla="val 15464"/>
            </a:avLst>
          </a:prstGeom>
          <a:solidFill>
            <a:srgbClr val="12503A"/>
          </a:solidFill>
          <a:ln/>
          <a:effectLst>
            <a:outerShdw sx="100000" sy="100000" kx="0" ky="0" algn="bl" rotWithShape="0" blurRad="0" dist="71842" dir="2700000">
              <a:srgbClr val="7D8B6A">
                <a:alpha val="100000"/>
              </a:srgbClr>
            </a:outerShdw>
          </a:effectLst>
        </p:spPr>
        <p:txBody>
          <a:bodyPr wrap="square" lIns="180882" tIns="104682" rIns="0" bIns="79282" rtlCol="0" anchor="t">
            <a:normAutofit/>
          </a:bodyPr>
          <a:lstStyle/>
          <a:p>
            <a:pPr algn="l" indent="0" marL="0">
              <a:lnSpc>
                <a:spcPts val="1890"/>
              </a:lnSpc>
              <a:buNone/>
            </a:pPr>
            <a:r>
              <a:rPr lang="en-US" sz="1400" b="1" dirty="0">
                <a:solidFill>
                  <a:srgbClr val="FBFAF7"/>
                </a:solidFill>
                <a:latin typeface="Hanken Grotesk" pitchFamily="34" charset="0"/>
                <a:ea typeface="Hanken Grotesk" pitchFamily="34" charset="-122"/>
                <a:cs typeface="Hanken Grotesk" pitchFamily="34" charset="-120"/>
              </a:rPr>
              <a:t>Try it live: clearance-gateway-web.vercel.app · the README has a 2-minute judge path</a:t>
            </a:r>
            <a:endParaRPr lang="en-US" sz="1400" dirty="0"/>
          </a:p>
        </p:txBody>
      </p:sp>
      <p:sp>
        <p:nvSpPr>
          <p:cNvPr id="21" name="Text 16"/>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All data synthetic · client names and the OpenBox site are fictional</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09 / EVIDENCE</a:t>
            </a:r>
            <a:endParaRPr lang="en-US" sz="1200" dirty="0"/>
          </a:p>
        </p:txBody>
      </p:sp>
      <p:sp>
        <p:nvSpPr>
          <p:cNvPr id="4" name="Text 2"/>
          <p:cNvSpPr/>
          <p:nvPr>
            <p:ph type="title"/>
          </p:nvPr>
        </p:nvSpPr>
        <p:spPr>
          <a:xfrm>
            <a:off x="812800" y="13030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Measured against two baselines, on synthetic data</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82139"/>
          <a:ext cx="10556240" cy="2141220"/>
        </p:xfrm>
        <a:graphic>
          <a:graphicData uri="http://schemas.openxmlformats.org/drawingml/2006/table">
            <a:tbl>
              <a:tblPr/>
              <a:tblGrid>
                <a:gridCol w="4222496"/>
                <a:gridCol w="1688998"/>
                <a:gridCol w="2111248"/>
                <a:gridCol w="2533498"/>
              </a:tblGrid>
              <a:tr h="356870">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Measure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No gateway</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Simple baseline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Clearance Gateway</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Sensitive values sent unprotected (of 126)</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126</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48</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9</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Precision / recall (test set)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n/a</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55.6% / 59.5%</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100% / 92.9%</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Evasion tricks caught (of 54)</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n/a</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3</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45</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False alarms on look-alike numbers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n/a</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64.4%</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0%</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Outage: confidential sent to a lower tier</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n/a</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B1B9B1"/>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87 of 87</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B1B9B1"/>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0 (81 blocked)</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B1B9B1"/>
                      </a:solidFill>
                      <a:prstDash val="solid"/>
                      <a:round/>
                      <a:headEnd type="none" w="med" len="med"/>
                      <a:tailEnd type="none" w="med" len="med"/>
                    </a:lnL>
                    <a:lnR w="12700" cap="flat" cmpd="sng" algn="ctr">
                      <a:solidFill>
                        <a:srgbClr val="B1B9B1"/>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1B9B1"/>
                      </a:solidFill>
                      <a:prstDash val="solid"/>
                      <a:round/>
                      <a:headEnd type="none" w="med" len="med"/>
                      <a:tailEnd type="none" w="med" len="med"/>
                    </a:lnB>
                    <a:solidFill>
                      <a:srgbClr val="DDE8DD"/>
                    </a:solidFill>
                  </a:tcPr>
                </a:tc>
              </a:tr>
            </a:tbl>
          </a:graphicData>
        </a:graphic>
      </p:graphicFrame>
      <p:sp>
        <p:nvSpPr>
          <p:cNvPr id="6" name="Shape 3"/>
          <p:cNvSpPr/>
          <p:nvPr/>
        </p:nvSpPr>
        <p:spPr>
          <a:xfrm>
            <a:off x="819150" y="4207514"/>
            <a:ext cx="5181600" cy="1181735"/>
          </a:xfrm>
          <a:prstGeom prst="roundRect">
            <a:avLst>
              <a:gd name="adj" fmla="val 5911"/>
            </a:avLst>
          </a:prstGeom>
          <a:solidFill>
            <a:srgbClr val="EEF1E8"/>
          </a:solidFill>
          <a:ln w="12700">
            <a:solidFill>
              <a:srgbClr val="14140F"/>
            </a:solidFill>
            <a:prstDash val="solid"/>
          </a:ln>
        </p:spPr>
      </p:sp>
      <p:sp>
        <p:nvSpPr>
          <p:cNvPr id="7" name="Text 4"/>
          <p:cNvSpPr/>
          <p:nvPr/>
        </p:nvSpPr>
        <p:spPr>
          <a:xfrm>
            <a:off x="1000760" y="4338321"/>
            <a:ext cx="496293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HOW IT WAS TESTED</a:t>
            </a:r>
            <a:endParaRPr lang="en-US" sz="1200" dirty="0"/>
          </a:p>
        </p:txBody>
      </p:sp>
      <p:sp>
        <p:nvSpPr>
          <p:cNvPr id="8" name="Text 5"/>
          <p:cNvSpPr/>
          <p:nvPr/>
        </p:nvSpPr>
        <p:spPr>
          <a:xfrm>
            <a:off x="1000760" y="4589779"/>
            <a:ext cx="4962931"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307 synthetic prompts. The test set (195) uses different sentence templates from the dev set. Policy matrix 96/96. Compiler: 3/3 valid, 0 looser, 35 of 96 decisions stricter.</a:t>
            </a:r>
            <a:endParaRPr lang="en-US" sz="1300" dirty="0"/>
          </a:p>
        </p:txBody>
      </p:sp>
      <p:sp>
        <p:nvSpPr>
          <p:cNvPr id="9" name="Shape 6"/>
          <p:cNvSpPr/>
          <p:nvPr/>
        </p:nvSpPr>
        <p:spPr>
          <a:xfrm>
            <a:off x="6191250" y="4207514"/>
            <a:ext cx="5181600" cy="1181735"/>
          </a:xfrm>
          <a:prstGeom prst="roundRect">
            <a:avLst>
              <a:gd name="adj" fmla="val 5911"/>
            </a:avLst>
          </a:prstGeom>
          <a:solidFill>
            <a:srgbClr val="F3E1D6"/>
          </a:solidFill>
          <a:ln w="12700">
            <a:solidFill>
              <a:srgbClr val="A65D3A"/>
            </a:solidFill>
            <a:prstDash val="solid"/>
          </a:ln>
        </p:spPr>
      </p:sp>
      <p:sp>
        <p:nvSpPr>
          <p:cNvPr id="10" name="Text 7"/>
          <p:cNvSpPr/>
          <p:nvPr/>
        </p:nvSpPr>
        <p:spPr>
          <a:xfrm>
            <a:off x="6372860" y="4338321"/>
            <a:ext cx="496293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A65D3A"/>
                </a:solidFill>
                <a:latin typeface="JetBrains Mono" pitchFamily="49" charset="0"/>
                <a:ea typeface="JetBrains Mono" pitchFamily="49" charset="-122"/>
                <a:cs typeface="JetBrains Mono" pitchFamily="49" charset="-120"/>
              </a:rPr>
              <a:t>NOT CLAIMED</a:t>
            </a:r>
            <a:endParaRPr lang="en-US" sz="1200" dirty="0"/>
          </a:p>
        </p:txBody>
      </p:sp>
      <p:sp>
        <p:nvSpPr>
          <p:cNvPr id="11" name="Text 8"/>
          <p:cNvSpPr/>
          <p:nvPr/>
        </p:nvSpPr>
        <p:spPr>
          <a:xfrm>
            <a:off x="6372860" y="4589779"/>
            <a:ext cx="4962931"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Not 100%. 9 values still got through, and 6 requests reached a lower tier because their data went undetected. Real-world accuracy will be lower.</a:t>
            </a:r>
            <a:endParaRPr lang="en-US" sz="1300" dirty="0"/>
          </a:p>
        </p:txBody>
      </p:sp>
      <p:sp>
        <p:nvSpPr>
          <p:cNvPr id="12" name="Text 9"/>
          <p:cNvSpPr/>
          <p:nvPr/>
        </p:nvSpPr>
        <p:spPr>
          <a:xfrm>
            <a:off x="812800" y="6024879"/>
            <a:ext cx="94837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Simple baseline = regex-only filter; outage row = naive “try the next provider” fallback · seed 20261029</a:t>
            </a:r>
            <a:endParaRPr lang="en-US" sz="1200" dirty="0"/>
          </a:p>
        </p:txBody>
      </p:sp>
      <p:sp>
        <p:nvSpPr>
          <p:cNvPr id="13" name="Text 10"/>
          <p:cNvSpPr/>
          <p:nvPr/>
        </p:nvSpPr>
        <p:spPr>
          <a:xfrm>
            <a:off x="10375900" y="6238242"/>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09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txBody>
          <a:bodyPr/>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10 / FEASIBILITY, RISKS AND TRADE-OFFS</a:t>
            </a:r>
            <a:endParaRPr lang="en-US" sz="1200" dirty="0"/>
          </a:p>
        </p:txBody>
      </p:sp>
      <p:sp>
        <p:nvSpPr>
          <p:cNvPr id="4" name="Text 2"/>
          <p:cNvSpPr/>
          <p:nvPr>
            <p:ph type="title"/>
          </p:nvPr>
        </p:nvSpPr>
        <p:spPr>
          <a:xfrm>
            <a:off x="812800" y="13030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Feasible today, with the risks named</a:t>
            </a:r>
            <a:endParaRPr lang="en-US" sz="2800" dirty="0"/>
          </a:p>
        </p:txBody>
      </p:sp>
      <p:sp>
        <p:nvSpPr>
          <p:cNvPr id="5" name="Shape 3"/>
          <p:cNvSpPr/>
          <p:nvPr/>
        </p:nvSpPr>
        <p:spPr>
          <a:xfrm>
            <a:off x="819150" y="1878329"/>
            <a:ext cx="2146300" cy="889000"/>
          </a:xfrm>
          <a:prstGeom prst="roundRect">
            <a:avLst>
              <a:gd name="adj" fmla="val 7857"/>
            </a:avLst>
          </a:prstGeom>
          <a:solidFill>
            <a:srgbClr val="FFFEFB"/>
          </a:solidFill>
          <a:ln w="12700">
            <a:solidFill>
              <a:srgbClr val="14140F"/>
            </a:solidFill>
            <a:prstDash val="solid"/>
          </a:ln>
          <a:effectLst>
            <a:outerShdw sx="100000" sy="100000" kx="0" ky="0" algn="bl" rotWithShape="0" blurRad="0" dist="53882" dir="2700000">
              <a:srgbClr val="12503A">
                <a:alpha val="100000"/>
              </a:srgbClr>
            </a:outerShdw>
          </a:effectLst>
        </p:spPr>
        <p:txBody>
          <a:bodyPr/>
          <a:p/>
        </p:txBody>
      </p:sp>
      <p:sp>
        <p:nvSpPr>
          <p:cNvPr id="6" name="Text 4"/>
          <p:cNvSpPr/>
          <p:nvPr/>
        </p:nvSpPr>
        <p:spPr>
          <a:xfrm>
            <a:off x="975360" y="2009142"/>
            <a:ext cx="188889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2503A"/>
                </a:solidFill>
                <a:latin typeface="JetBrains Mono" pitchFamily="49" charset="0"/>
                <a:ea typeface="JetBrains Mono" pitchFamily="49" charset="-122"/>
                <a:cs typeface="JetBrains Mono" pitchFamily="49" charset="-120"/>
              </a:rPr>
              <a:t>0.047 ms</a:t>
            </a:r>
            <a:endParaRPr lang="en-US" sz="2200" dirty="0"/>
          </a:p>
        </p:txBody>
      </p:sp>
      <p:sp>
        <p:nvSpPr>
          <p:cNvPr id="7" name="Text 5"/>
          <p:cNvSpPr/>
          <p:nvPr/>
        </p:nvSpPr>
        <p:spPr>
          <a:xfrm>
            <a:off x="975360" y="2438400"/>
            <a:ext cx="198374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140F"/>
                </a:solidFill>
                <a:latin typeface="Hanken Grotesk" pitchFamily="34" charset="0"/>
                <a:ea typeface="Hanken Grotesk" pitchFamily="34" charset="-122"/>
                <a:cs typeface="Hanken Grotesk" pitchFamily="34" charset="-120"/>
              </a:rPr>
              <a:t>median check, no network</a:t>
            </a:r>
            <a:endParaRPr lang="en-US" sz="1200" dirty="0"/>
          </a:p>
        </p:txBody>
      </p:sp>
      <p:sp>
        <p:nvSpPr>
          <p:cNvPr id="8" name="Shape 6"/>
          <p:cNvSpPr/>
          <p:nvPr/>
        </p:nvSpPr>
        <p:spPr>
          <a:xfrm>
            <a:off x="3105150" y="1878329"/>
            <a:ext cx="2146300" cy="889000"/>
          </a:xfrm>
          <a:prstGeom prst="roundRect">
            <a:avLst>
              <a:gd name="adj" fmla="val 7857"/>
            </a:avLst>
          </a:prstGeom>
          <a:solidFill>
            <a:srgbClr val="FFFEFB"/>
          </a:solidFill>
          <a:ln w="12700">
            <a:solidFill>
              <a:srgbClr val="14140F"/>
            </a:solidFill>
            <a:prstDash val="solid"/>
          </a:ln>
          <a:effectLst>
            <a:outerShdw sx="100000" sy="100000" kx="0" ky="0" algn="bl" rotWithShape="0" blurRad="0" dist="53882" dir="2700000">
              <a:srgbClr val="12503A">
                <a:alpha val="100000"/>
              </a:srgbClr>
            </a:outerShdw>
          </a:effectLst>
        </p:spPr>
        <p:txBody>
          <a:bodyPr/>
          <a:p/>
        </p:txBody>
      </p:sp>
      <p:sp>
        <p:nvSpPr>
          <p:cNvPr id="9" name="Text 7"/>
          <p:cNvSpPr/>
          <p:nvPr/>
        </p:nvSpPr>
        <p:spPr>
          <a:xfrm>
            <a:off x="3261360" y="2009142"/>
            <a:ext cx="1888897"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2503A"/>
                </a:solidFill>
                <a:latin typeface="JetBrains Mono" pitchFamily="49" charset="0"/>
                <a:ea typeface="JetBrains Mono" pitchFamily="49" charset="-122"/>
                <a:cs typeface="JetBrains Mono" pitchFamily="49" charset="-120"/>
              </a:rPr>
              <a:t>381</a:t>
            </a:r>
            <a:endParaRPr lang="en-US" sz="2200" dirty="0"/>
          </a:p>
        </p:txBody>
      </p:sp>
      <p:sp>
        <p:nvSpPr>
          <p:cNvPr id="10" name="Text 8"/>
          <p:cNvSpPr/>
          <p:nvPr/>
        </p:nvSpPr>
        <p:spPr>
          <a:xfrm>
            <a:off x="3261360" y="2438400"/>
            <a:ext cx="188889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140F"/>
                </a:solidFill>
                <a:latin typeface="Hanken Grotesk" pitchFamily="34" charset="0"/>
                <a:ea typeface="Hanken Grotesk" pitchFamily="34" charset="-122"/>
                <a:cs typeface="Hanken Grotesk" pitchFamily="34" charset="-120"/>
              </a:rPr>
              <a:t>automated tests, CI green</a:t>
            </a:r>
            <a:endParaRPr lang="en-US" sz="1200" dirty="0"/>
          </a:p>
        </p:txBody>
      </p:sp>
      <p:sp>
        <p:nvSpPr>
          <p:cNvPr id="11" name="Shape 9"/>
          <p:cNvSpPr/>
          <p:nvPr/>
        </p:nvSpPr>
        <p:spPr>
          <a:xfrm>
            <a:off x="819150" y="2907029"/>
            <a:ext cx="4432300" cy="958850"/>
          </a:xfrm>
          <a:prstGeom prst="roundRect">
            <a:avLst>
              <a:gd name="adj" fmla="val 7285"/>
            </a:avLst>
          </a:prstGeom>
          <a:solidFill>
            <a:srgbClr val="EEF1E8"/>
          </a:solidFill>
          <a:ln w="12700">
            <a:solidFill>
              <a:srgbClr val="14140F"/>
            </a:solidFill>
            <a:prstDash val="solid"/>
          </a:ln>
        </p:spPr>
        <p:txBody>
          <a:bodyPr/>
          <a:p/>
        </p:txBody>
      </p:sp>
      <p:sp>
        <p:nvSpPr>
          <p:cNvPr id="12" name="Text 10"/>
          <p:cNvSpPr/>
          <p:nvPr/>
        </p:nvSpPr>
        <p:spPr>
          <a:xfrm>
            <a:off x="988060" y="3037842"/>
            <a:ext cx="421731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RUNS ON FREE TIERS</a:t>
            </a:r>
            <a:endParaRPr lang="en-US" sz="1200" dirty="0"/>
          </a:p>
        </p:txBody>
      </p:sp>
      <p:sp>
        <p:nvSpPr>
          <p:cNvPr id="13" name="Text 11"/>
          <p:cNvSpPr/>
          <p:nvPr/>
        </p:nvSpPr>
        <p:spPr>
          <a:xfrm>
            <a:off x="988060" y="3289300"/>
            <a:ext cx="421731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A prototype on free tiers (Vercel, Supabase, Gemini, Groq), so resources are limited. Built solo, with AI help.</a:t>
            </a:r>
            <a:endParaRPr lang="en-US" sz="1300" dirty="0"/>
          </a:p>
        </p:txBody>
      </p:sp>
      <p:sp>
        <p:nvSpPr>
          <p:cNvPr id="14" name="Shape 12"/>
          <p:cNvSpPr/>
          <p:nvPr/>
        </p:nvSpPr>
        <p:spPr>
          <a:xfrm>
            <a:off x="819150" y="4005579"/>
            <a:ext cx="4432300" cy="958850"/>
          </a:xfrm>
          <a:prstGeom prst="roundRect">
            <a:avLst>
              <a:gd name="adj" fmla="val 7285"/>
            </a:avLst>
          </a:prstGeom>
          <a:solidFill>
            <a:srgbClr val="EEF1E8"/>
          </a:solidFill>
          <a:ln w="12700">
            <a:solidFill>
              <a:srgbClr val="14140F"/>
            </a:solidFill>
            <a:prstDash val="solid"/>
          </a:ln>
        </p:spPr>
        <p:txBody>
          <a:bodyPr/>
          <a:p/>
        </p:txBody>
      </p:sp>
      <p:sp>
        <p:nvSpPr>
          <p:cNvPr id="15" name="Text 13"/>
          <p:cNvSpPr/>
          <p:nvPr/>
        </p:nvSpPr>
        <p:spPr>
          <a:xfrm>
            <a:off x="988060" y="4136392"/>
            <a:ext cx="421731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A COMPANY NEEDS</a:t>
            </a:r>
            <a:endParaRPr lang="en-US" sz="1200" dirty="0"/>
          </a:p>
        </p:txBody>
      </p:sp>
      <p:sp>
        <p:nvSpPr>
          <p:cNvPr id="16" name="Text 14"/>
          <p:cNvSpPr/>
          <p:nvPr/>
        </p:nvSpPr>
        <p:spPr>
          <a:xfrm>
            <a:off x="988060" y="4387850"/>
            <a:ext cx="421731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An approved AI provider, a policy owner, apps routed through the gateway, Lens on work browsers.</a:t>
            </a:r>
            <a:endParaRPr lang="en-US" sz="1300" dirty="0"/>
          </a:p>
        </p:txBody>
      </p:sp>
      <p:sp>
        <p:nvSpPr>
          <p:cNvPr id="17" name="Shape 15"/>
          <p:cNvSpPr/>
          <p:nvPr/>
        </p:nvSpPr>
        <p:spPr>
          <a:xfrm>
            <a:off x="5511800" y="1871979"/>
            <a:ext cx="5867400" cy="787400"/>
          </a:xfrm>
          <a:prstGeom prst="roundRect">
            <a:avLst>
              <a:gd name="adj" fmla="val 6452"/>
            </a:avLst>
          </a:prstGeom>
          <a:solidFill>
            <a:srgbClr val="FFFEFB"/>
          </a:solidFill>
          <a:ln/>
        </p:spPr>
        <p:txBody>
          <a:bodyPr/>
          <a:p/>
        </p:txBody>
      </p:sp>
      <p:sp>
        <p:nvSpPr>
          <p:cNvPr id="18" name="Shape 16"/>
          <p:cNvSpPr/>
          <p:nvPr/>
        </p:nvSpPr>
        <p:spPr>
          <a:xfrm>
            <a:off x="5511800" y="1871979"/>
            <a:ext cx="5867400" cy="787400"/>
          </a:xfrm>
          <a:custGeom>
            <a:avLst/>
            <a:gdLst/>
            <a:ahLst/>
            <a:cxnLst/>
            <a:rect l="l" t="t" r="r" b="b"/>
            <a:pathLst>
              <a:path w="5867400" h="787400">
                <a:moveTo>
                  <a:pt x="50800" y="787400"/>
                </a:moveTo>
                <a:lnTo>
                  <a:pt x="50800" y="787400"/>
                </a:lnTo>
                <a:arcTo hR="50800" wR="50800" stAng="5400000" swAng="5400000"/>
                <a:lnTo>
                  <a:pt x="0" y="50800"/>
                </a:lnTo>
                <a:arcTo hR="50800" wR="50800" stAng="10800000" swAng="5400000"/>
                <a:lnTo>
                  <a:pt x="50800" y="0"/>
                </a:lnTo>
                <a:lnTo>
                  <a:pt x="50800" y="787400"/>
                </a:lnTo>
                <a:close/>
              </a:path>
            </a:pathLst>
          </a:custGeom>
          <a:solidFill>
            <a:srgbClr val="7D8B6A"/>
          </a:solidFill>
          <a:ln/>
        </p:spPr>
        <p:txBody>
          <a:bodyPr/>
          <a:p/>
        </p:txBody>
      </p:sp>
      <p:sp>
        <p:nvSpPr>
          <p:cNvPr id="19" name="Text 17"/>
          <p:cNvSpPr/>
          <p:nvPr/>
        </p:nvSpPr>
        <p:spPr>
          <a:xfrm>
            <a:off x="5715000" y="1960879"/>
            <a:ext cx="56771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Too strict, so staff go back to personal accounts</a:t>
            </a:r>
            <a:endParaRPr lang="en-US" sz="1400" dirty="0"/>
          </a:p>
        </p:txBody>
      </p:sp>
      <p:sp>
        <p:nvSpPr>
          <p:cNvPr id="20" name="Text 18"/>
          <p:cNvSpPr/>
          <p:nvPr/>
        </p:nvSpPr>
        <p:spPr>
          <a:xfrm>
            <a:off x="5715000" y="2174242"/>
            <a:ext cx="5677154"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Redact and continue instead of blocking, with a clear reason. Simulator and decision diff test a policy first; shadow mode is planned for the pilot.</a:t>
            </a:r>
            <a:endParaRPr lang="en-US" sz="1200" dirty="0"/>
          </a:p>
        </p:txBody>
      </p:sp>
      <p:sp>
        <p:nvSpPr>
          <p:cNvPr id="21" name="Shape 19"/>
          <p:cNvSpPr/>
          <p:nvPr/>
        </p:nvSpPr>
        <p:spPr>
          <a:xfrm>
            <a:off x="5511800" y="2748279"/>
            <a:ext cx="5867400" cy="589280"/>
          </a:xfrm>
          <a:prstGeom prst="roundRect">
            <a:avLst>
              <a:gd name="adj" fmla="val 8621"/>
            </a:avLst>
          </a:prstGeom>
          <a:solidFill>
            <a:srgbClr val="FFFEFB"/>
          </a:solidFill>
          <a:ln/>
        </p:spPr>
        <p:txBody>
          <a:bodyPr/>
          <a:p/>
        </p:txBody>
      </p:sp>
      <p:sp>
        <p:nvSpPr>
          <p:cNvPr id="22" name="Shape 20"/>
          <p:cNvSpPr/>
          <p:nvPr/>
        </p:nvSpPr>
        <p:spPr>
          <a:xfrm>
            <a:off x="5511800" y="2748279"/>
            <a:ext cx="5867400" cy="589280"/>
          </a:xfrm>
          <a:custGeom>
            <a:avLst/>
            <a:gdLst/>
            <a:ahLst/>
            <a:cxnLst/>
            <a:rect l="l" t="t" r="r" b="b"/>
            <a:pathLst>
              <a:path w="5867400" h="589280">
                <a:moveTo>
                  <a:pt x="50800" y="589280"/>
                </a:moveTo>
                <a:lnTo>
                  <a:pt x="50800" y="589280"/>
                </a:lnTo>
                <a:arcTo hR="50800" wR="50800" stAng="5400000" swAng="5400000"/>
                <a:lnTo>
                  <a:pt x="0" y="50800"/>
                </a:lnTo>
                <a:arcTo hR="50800" wR="50800" stAng="10800000" swAng="5400000"/>
                <a:lnTo>
                  <a:pt x="50800" y="0"/>
                </a:lnTo>
                <a:lnTo>
                  <a:pt x="50800" y="589280"/>
                </a:lnTo>
                <a:close/>
              </a:path>
            </a:pathLst>
          </a:custGeom>
          <a:solidFill>
            <a:srgbClr val="7D8B6A"/>
          </a:solidFill>
          <a:ln/>
        </p:spPr>
        <p:txBody>
          <a:bodyPr/>
          <a:p/>
        </p:txBody>
      </p:sp>
      <p:sp>
        <p:nvSpPr>
          <p:cNvPr id="23" name="Text 21"/>
          <p:cNvSpPr/>
          <p:nvPr/>
        </p:nvSpPr>
        <p:spPr>
          <a:xfrm>
            <a:off x="5715000" y="2837179"/>
            <a:ext cx="56771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Feels like spying, so people hide more</a:t>
            </a:r>
            <a:endParaRPr lang="en-US" sz="1400" dirty="0"/>
          </a:p>
        </p:txBody>
      </p:sp>
      <p:sp>
        <p:nvSpPr>
          <p:cNvPr id="24" name="Text 22"/>
          <p:cNvSpPr/>
          <p:nvPr/>
        </p:nvSpPr>
        <p:spPr>
          <a:xfrm>
            <a:off x="5715000" y="3050542"/>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No prompt or reply text is stored: the audit log has no text column.</a:t>
            </a:r>
            <a:endParaRPr lang="en-US" sz="1200" dirty="0"/>
          </a:p>
        </p:txBody>
      </p:sp>
      <p:sp>
        <p:nvSpPr>
          <p:cNvPr id="25" name="Shape 23"/>
          <p:cNvSpPr/>
          <p:nvPr/>
        </p:nvSpPr>
        <p:spPr>
          <a:xfrm>
            <a:off x="5511800" y="3426464"/>
            <a:ext cx="5867400" cy="589280"/>
          </a:xfrm>
          <a:prstGeom prst="roundRect">
            <a:avLst>
              <a:gd name="adj" fmla="val 8621"/>
            </a:avLst>
          </a:prstGeom>
          <a:solidFill>
            <a:srgbClr val="FFFEFB"/>
          </a:solidFill>
          <a:ln/>
        </p:spPr>
        <p:txBody>
          <a:bodyPr/>
          <a:p/>
        </p:txBody>
      </p:sp>
      <p:sp>
        <p:nvSpPr>
          <p:cNvPr id="26" name="Shape 24"/>
          <p:cNvSpPr/>
          <p:nvPr/>
        </p:nvSpPr>
        <p:spPr>
          <a:xfrm>
            <a:off x="5511800" y="3426464"/>
            <a:ext cx="5867400" cy="589280"/>
          </a:xfrm>
          <a:custGeom>
            <a:avLst/>
            <a:gdLst/>
            <a:ahLst/>
            <a:cxnLst/>
            <a:rect l="l" t="t" r="r" b="b"/>
            <a:pathLst>
              <a:path w="5867400" h="589280">
                <a:moveTo>
                  <a:pt x="50800" y="589280"/>
                </a:moveTo>
                <a:lnTo>
                  <a:pt x="50800" y="589280"/>
                </a:lnTo>
                <a:arcTo hR="50800" wR="50800" stAng="5400000" swAng="5400000"/>
                <a:lnTo>
                  <a:pt x="0" y="50800"/>
                </a:lnTo>
                <a:arcTo hR="50800" wR="50800" stAng="10800000" swAng="5400000"/>
                <a:lnTo>
                  <a:pt x="50800" y="0"/>
                </a:lnTo>
                <a:lnTo>
                  <a:pt x="50800" y="589280"/>
                </a:lnTo>
                <a:close/>
              </a:path>
            </a:pathLst>
          </a:custGeom>
          <a:solidFill>
            <a:srgbClr val="7D8B6A"/>
          </a:solidFill>
          <a:ln/>
        </p:spPr>
        <p:txBody>
          <a:bodyPr/>
          <a:p/>
        </p:txBody>
      </p:sp>
      <p:sp>
        <p:nvSpPr>
          <p:cNvPr id="27" name="Text 25"/>
          <p:cNvSpPr/>
          <p:nvPr/>
        </p:nvSpPr>
        <p:spPr>
          <a:xfrm>
            <a:off x="5715000" y="3515364"/>
            <a:ext cx="56771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A false sense of safety</a:t>
            </a:r>
            <a:endParaRPr lang="en-US" sz="1400" dirty="0"/>
          </a:p>
        </p:txBody>
      </p:sp>
      <p:sp>
        <p:nvSpPr>
          <p:cNvPr id="28" name="Text 26"/>
          <p:cNvSpPr/>
          <p:nvPr/>
        </p:nvSpPr>
        <p:spPr>
          <a:xfrm>
            <a:off x="5715000" y="3728721"/>
            <a:ext cx="56771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Measured numbers only, never “100% safe”. The limits are written down.</a:t>
            </a:r>
            <a:endParaRPr lang="en-US" sz="1200" dirty="0"/>
          </a:p>
        </p:txBody>
      </p:sp>
      <p:sp>
        <p:nvSpPr>
          <p:cNvPr id="29" name="Shape 27"/>
          <p:cNvSpPr/>
          <p:nvPr/>
        </p:nvSpPr>
        <p:spPr>
          <a:xfrm>
            <a:off x="5511800" y="4104642"/>
            <a:ext cx="5867400" cy="787400"/>
          </a:xfrm>
          <a:prstGeom prst="roundRect">
            <a:avLst>
              <a:gd name="adj" fmla="val 6452"/>
            </a:avLst>
          </a:prstGeom>
          <a:solidFill>
            <a:srgbClr val="FFFEFB"/>
          </a:solidFill>
          <a:ln/>
        </p:spPr>
        <p:txBody>
          <a:bodyPr/>
          <a:p/>
        </p:txBody>
      </p:sp>
      <p:sp>
        <p:nvSpPr>
          <p:cNvPr id="30" name="Shape 28"/>
          <p:cNvSpPr/>
          <p:nvPr/>
        </p:nvSpPr>
        <p:spPr>
          <a:xfrm>
            <a:off x="5511800" y="4104642"/>
            <a:ext cx="5867400" cy="787400"/>
          </a:xfrm>
          <a:custGeom>
            <a:avLst/>
            <a:gdLst/>
            <a:ahLst/>
            <a:cxnLst/>
            <a:rect l="l" t="t" r="r" b="b"/>
            <a:pathLst>
              <a:path w="5867400" h="787400">
                <a:moveTo>
                  <a:pt x="50800" y="787400"/>
                </a:moveTo>
                <a:lnTo>
                  <a:pt x="50800" y="787400"/>
                </a:lnTo>
                <a:arcTo hR="50800" wR="50800" stAng="5400000" swAng="5400000"/>
                <a:lnTo>
                  <a:pt x="0" y="50800"/>
                </a:lnTo>
                <a:arcTo hR="50800" wR="50800" stAng="10800000" swAng="5400000"/>
                <a:lnTo>
                  <a:pt x="50800" y="0"/>
                </a:lnTo>
                <a:lnTo>
                  <a:pt x="50800" y="787400"/>
                </a:lnTo>
                <a:close/>
              </a:path>
            </a:pathLst>
          </a:custGeom>
          <a:solidFill>
            <a:srgbClr val="A65D3A"/>
          </a:solidFill>
          <a:ln/>
        </p:spPr>
        <p:txBody>
          <a:bodyPr/>
          <a:p/>
        </p:txBody>
      </p:sp>
      <p:sp>
        <p:nvSpPr>
          <p:cNvPr id="31" name="Text 29"/>
          <p:cNvSpPr/>
          <p:nvPr/>
        </p:nvSpPr>
        <p:spPr>
          <a:xfrm>
            <a:off x="5715000" y="4193542"/>
            <a:ext cx="56771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0F"/>
                </a:solidFill>
                <a:latin typeface="Hanken Grotesk" pitchFamily="34" charset="0"/>
                <a:ea typeface="Hanken Grotesk" pitchFamily="34" charset="-122"/>
                <a:cs typeface="Hanken Grotesk" pitchFamily="34" charset="-120"/>
              </a:rPr>
              <a:t>The AI misreads the policy</a:t>
            </a:r>
            <a:endParaRPr lang="en-US" sz="1400" dirty="0"/>
          </a:p>
        </p:txBody>
      </p:sp>
      <p:sp>
        <p:nvSpPr>
          <p:cNvPr id="32" name="Text 30"/>
          <p:cNvSpPr/>
          <p:nvPr/>
        </p:nvSpPr>
        <p:spPr>
          <a:xfrm>
            <a:off x="5715000" y="4406900"/>
            <a:ext cx="5677154"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D42"/>
                </a:solidFill>
                <a:latin typeface="Hanken Grotesk" pitchFamily="34" charset="0"/>
                <a:ea typeface="Hanken Grotesk" pitchFamily="34" charset="-122"/>
                <a:cs typeface="Hanken Grotesk" pitchFamily="34" charset="-120"/>
              </a:rPr>
              <a:t>A person reviews and activates; the policy floor refuses looser rules. 3 of 3 runs: 0 looser, 35 of 96 decisions stricter.</a:t>
            </a:r>
            <a:endParaRPr lang="en-US" sz="1200" dirty="0"/>
          </a:p>
        </p:txBody>
      </p:sp>
      <p:sp>
        <p:nvSpPr>
          <p:cNvPr id="33" name="Text 31"/>
          <p:cNvSpPr/>
          <p:nvPr/>
        </p:nvSpPr>
        <p:spPr>
          <a:xfrm>
            <a:off x="5511800" y="4980942"/>
            <a:ext cx="604342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503A"/>
                </a:solidFill>
                <a:latin typeface="JetBrains Mono" pitchFamily="49" charset="0"/>
                <a:ea typeface="JetBrains Mono" pitchFamily="49" charset="-122"/>
                <a:cs typeface="JetBrains Mono" pitchFamily="49" charset="-120"/>
              </a:rPr>
              <a:t>Also: RLS on, service key API-only, rate limits, gitleaks on every PR, npm audit 0.</a:t>
            </a:r>
            <a:endParaRPr lang="en-US" sz="1200" dirty="0"/>
          </a:p>
        </p:txBody>
      </p:sp>
      <p:sp>
        <p:nvSpPr>
          <p:cNvPr id="34" name="Text 32"/>
          <p:cNvSpPr/>
          <p:nvPr/>
        </p:nvSpPr>
        <p:spPr>
          <a:xfrm>
            <a:off x="812800" y="6238242"/>
            <a:ext cx="94837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Not covered: personal phones · Lens is Chromium only · coding agents designed, not built (time, resources)</a:t>
            </a:r>
            <a:endParaRPr lang="en-US" sz="1200" dirty="0"/>
          </a:p>
        </p:txBody>
      </p:sp>
      <p:sp>
        <p:nvSpPr>
          <p:cNvPr id="35" name="Text 33"/>
          <p:cNvSpPr/>
          <p:nvPr/>
        </p:nvSpPr>
        <p:spPr>
          <a:xfrm>
            <a:off x="10375900" y="6238242"/>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11 / IMPACT AND MEASUREMENT</a:t>
            </a:r>
            <a:endParaRPr lang="en-US" sz="1200" dirty="0"/>
          </a:p>
        </p:txBody>
      </p:sp>
      <p:sp>
        <p:nvSpPr>
          <p:cNvPr id="4" name="Text 2"/>
          <p:cNvSpPr/>
          <p:nvPr>
            <p:ph type="title"/>
          </p:nvPr>
        </p:nvSpPr>
        <p:spPr>
          <a:xfrm>
            <a:off x="812800" y="13284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Expected impact, and how I would measure it</a:t>
            </a:r>
            <a:endParaRPr lang="en-US" sz="2800" dirty="0"/>
          </a:p>
        </p:txBody>
      </p:sp>
      <p:sp>
        <p:nvSpPr>
          <p:cNvPr id="5" name="Shape 3"/>
          <p:cNvSpPr/>
          <p:nvPr/>
        </p:nvSpPr>
        <p:spPr>
          <a:xfrm>
            <a:off x="819150" y="1929129"/>
            <a:ext cx="3136900" cy="984250"/>
          </a:xfrm>
          <a:prstGeom prst="roundRect">
            <a:avLst>
              <a:gd name="adj" fmla="val 7097"/>
            </a:avLst>
          </a:prstGeom>
          <a:solidFill>
            <a:srgbClr val="FFFEFB"/>
          </a:solidFill>
          <a:ln w="12700">
            <a:solidFill>
              <a:srgbClr val="14140F"/>
            </a:solidFill>
            <a:prstDash val="solid"/>
          </a:ln>
          <a:effectLst>
            <a:outerShdw sx="100000" sy="100000" kx="0" ky="0" algn="bl" rotWithShape="0" blurRad="0" dist="53882" dir="2700000">
              <a:srgbClr val="7D8B6A">
                <a:alpha val="100000"/>
              </a:srgbClr>
            </a:outerShdw>
          </a:effectLst>
        </p:spPr>
      </p:sp>
      <p:sp>
        <p:nvSpPr>
          <p:cNvPr id="6" name="Text 4"/>
          <p:cNvSpPr/>
          <p:nvPr/>
        </p:nvSpPr>
        <p:spPr>
          <a:xfrm>
            <a:off x="988060" y="2072642"/>
            <a:ext cx="288305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WEEKS 1–2 · SHADOW MODE</a:t>
            </a:r>
            <a:endParaRPr lang="en-US" sz="1200" dirty="0"/>
          </a:p>
        </p:txBody>
      </p:sp>
      <p:sp>
        <p:nvSpPr>
          <p:cNvPr id="7" name="Text 5"/>
          <p:cNvSpPr/>
          <p:nvPr/>
        </p:nvSpPr>
        <p:spPr>
          <a:xfrm>
            <a:off x="988060" y="2324100"/>
            <a:ext cx="288305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Nothing blocked. Record what would be removed: the baseline.</a:t>
            </a:r>
            <a:endParaRPr lang="en-US" sz="1300" dirty="0"/>
          </a:p>
        </p:txBody>
      </p:sp>
      <p:pic>
        <p:nvPicPr>
          <p:cNvPr id="8" name="Image 0" descr="arrow-right">    </p:cNvPr>
          <p:cNvPicPr>
            <a:picLocks noChangeAspect="1"/>
          </p:cNvPicPr>
          <p:nvPr/>
        </p:nvPicPr>
        <p:blipFill>
          <a:blip r:embed="rId1"/>
          <a:srcRect l="0" r="0" t="0" b="0"/>
          <a:stretch/>
        </p:blipFill>
        <p:spPr>
          <a:xfrm>
            <a:off x="4064000" y="2332354"/>
            <a:ext cx="355600" cy="177800"/>
          </a:xfrm>
          <a:prstGeom prst="rect">
            <a:avLst/>
          </a:prstGeom>
        </p:spPr>
      </p:pic>
      <p:sp>
        <p:nvSpPr>
          <p:cNvPr id="9" name="Shape 6"/>
          <p:cNvSpPr/>
          <p:nvPr/>
        </p:nvSpPr>
        <p:spPr>
          <a:xfrm>
            <a:off x="4527550" y="1929129"/>
            <a:ext cx="3136900" cy="984250"/>
          </a:xfrm>
          <a:prstGeom prst="roundRect">
            <a:avLst>
              <a:gd name="adj" fmla="val 7097"/>
            </a:avLst>
          </a:prstGeom>
          <a:solidFill>
            <a:srgbClr val="FFFEFB"/>
          </a:solidFill>
          <a:ln w="12700">
            <a:solidFill>
              <a:srgbClr val="14140F"/>
            </a:solidFill>
            <a:prstDash val="solid"/>
          </a:ln>
          <a:effectLst>
            <a:outerShdw sx="100000" sy="100000" kx="0" ky="0" algn="bl" rotWithShape="0" blurRad="0" dist="53882" dir="2700000">
              <a:srgbClr val="12503A">
                <a:alpha val="100000"/>
              </a:srgbClr>
            </a:outerShdw>
          </a:effectLst>
        </p:spPr>
      </p:sp>
      <p:sp>
        <p:nvSpPr>
          <p:cNvPr id="10" name="Text 7"/>
          <p:cNvSpPr/>
          <p:nvPr/>
        </p:nvSpPr>
        <p:spPr>
          <a:xfrm>
            <a:off x="4696460" y="2072642"/>
            <a:ext cx="288305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WEEKS 3–6 · ENFORCE</a:t>
            </a:r>
            <a:endParaRPr lang="en-US" sz="1200" dirty="0"/>
          </a:p>
        </p:txBody>
      </p:sp>
      <p:sp>
        <p:nvSpPr>
          <p:cNvPr id="11" name="Text 8"/>
          <p:cNvSpPr/>
          <p:nvPr/>
        </p:nvSpPr>
        <p:spPr>
          <a:xfrm>
            <a:off x="4696460" y="2324100"/>
            <a:ext cx="288305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Rules switched on for one department.</a:t>
            </a:r>
            <a:endParaRPr lang="en-US" sz="1300" dirty="0"/>
          </a:p>
        </p:txBody>
      </p:sp>
      <p:pic>
        <p:nvPicPr>
          <p:cNvPr id="12" name="Image 1" descr="arrow-right">    </p:cNvPr>
          <p:cNvPicPr>
            <a:picLocks noChangeAspect="1"/>
          </p:cNvPicPr>
          <p:nvPr/>
        </p:nvPicPr>
        <p:blipFill>
          <a:blip r:embed="rId2"/>
          <a:srcRect l="0" r="0" t="0" b="0"/>
          <a:stretch/>
        </p:blipFill>
        <p:spPr>
          <a:xfrm>
            <a:off x="7772400" y="2332354"/>
            <a:ext cx="355600" cy="177800"/>
          </a:xfrm>
          <a:prstGeom prst="rect">
            <a:avLst/>
          </a:prstGeom>
        </p:spPr>
      </p:pic>
      <p:sp>
        <p:nvSpPr>
          <p:cNvPr id="13" name="Shape 9"/>
          <p:cNvSpPr/>
          <p:nvPr/>
        </p:nvSpPr>
        <p:spPr>
          <a:xfrm>
            <a:off x="8235950" y="2040576"/>
            <a:ext cx="3136900" cy="761365"/>
          </a:xfrm>
          <a:prstGeom prst="roundRect">
            <a:avLst>
              <a:gd name="adj" fmla="val 9174"/>
            </a:avLst>
          </a:prstGeom>
          <a:solidFill>
            <a:srgbClr val="FFFEFB"/>
          </a:solidFill>
          <a:ln w="12700">
            <a:solidFill>
              <a:srgbClr val="14140F"/>
            </a:solidFill>
            <a:prstDash val="solid"/>
          </a:ln>
          <a:effectLst>
            <a:outerShdw sx="100000" sy="100000" kx="0" ky="0" algn="bl" rotWithShape="0" blurRad="0" dist="53882" dir="2700000">
              <a:srgbClr val="7D8B6A">
                <a:alpha val="100000"/>
              </a:srgbClr>
            </a:outerShdw>
          </a:effectLst>
        </p:spPr>
      </p:sp>
      <p:sp>
        <p:nvSpPr>
          <p:cNvPr id="14" name="Text 10"/>
          <p:cNvSpPr/>
          <p:nvPr/>
        </p:nvSpPr>
        <p:spPr>
          <a:xfrm>
            <a:off x="8404860" y="2184084"/>
            <a:ext cx="288305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BEFORE AND AFTER</a:t>
            </a:r>
            <a:endParaRPr lang="en-US" sz="1200" dirty="0"/>
          </a:p>
        </p:txBody>
      </p:sp>
      <p:sp>
        <p:nvSpPr>
          <p:cNvPr id="15" name="Text 11"/>
          <p:cNvSpPr/>
          <p:nvPr/>
        </p:nvSpPr>
        <p:spPr>
          <a:xfrm>
            <a:off x="8404860" y="2435541"/>
            <a:ext cx="288305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140F"/>
                </a:solidFill>
                <a:latin typeface="Hanken Grotesk" pitchFamily="34" charset="0"/>
                <a:ea typeface="Hanken Grotesk" pitchFamily="34" charset="-122"/>
                <a:cs typeface="Hanken Grotesk" pitchFamily="34" charset="-120"/>
              </a:rPr>
              <a:t>Short anonymous staff survey.</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3133089"/>
          <a:ext cx="10556240" cy="1784350"/>
        </p:xfrm>
        <a:graphic>
          <a:graphicData uri="http://schemas.openxmlformats.org/drawingml/2006/table">
            <a:tbl>
              <a:tblPr/>
              <a:tblGrid>
                <a:gridCol w="3589122"/>
                <a:gridCol w="4222496"/>
                <a:gridCol w="2744622"/>
              </a:tblGrid>
              <a:tr h="356870">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Goal</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Measure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c>
                  <a:txBody>
                    <a:bodyPr/>
                    <a:lstStyle/>
                    <a:p>
                      <a:pPr indent="0" marL="0">
                        <a:lnSpc>
                          <a:spcPts val="1820"/>
                        </a:lnSpc>
                        <a:buNone/>
                      </a:pPr>
                      <a:r>
                        <a:rPr lang="en-US" sz="1300" b="1" dirty="0">
                          <a:solidFill>
                            <a:srgbClr val="FBFAF7"/>
                          </a:solidFill>
                          <a:latin typeface="Hanken Grotesk" pitchFamily="34" charset="0"/>
                          <a:ea typeface="Hanken Grotesk" pitchFamily="34" charset="-122"/>
                          <a:cs typeface="Hanken Grotesk" pitchFamily="34" charset="-120"/>
                        </a:rPr>
                        <a:t>Good result</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124331"/>
                      </a:solidFill>
                      <a:prstDash val="solid"/>
                      <a:round/>
                      <a:headEnd type="none" w="med" len="med"/>
                      <a:tailEnd type="none" w="med" len="med"/>
                    </a:lnL>
                    <a:lnR w="12700" cap="flat" cmpd="sng" algn="ctr">
                      <a:solidFill>
                        <a:srgbClr val="124331"/>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24331"/>
                      </a:solidFill>
                      <a:prstDash val="solid"/>
                      <a:round/>
                      <a:headEnd type="none" w="med" len="med"/>
                      <a:tailEnd type="none" w="med" len="med"/>
                    </a:lnB>
                    <a:solidFill>
                      <a:srgbClr val="12503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More AI use on the approved route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Share of requests through the gateway</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Goes up</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4331"/>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Less sensitive data leaves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Findings per 100 prompts, uncleared tiers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Near zero</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Staff aren’t over-blocked</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Block rate and “this was wrong” reports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Low and stable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No move to personal accounts</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Anonymous survey question</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820"/>
                        </a:lnSpc>
                        <a:buNone/>
                      </a:pPr>
                      <a:r>
                        <a:rPr lang="en-US" sz="1300" dirty="0">
                          <a:solidFill>
                            <a:srgbClr val="14140F"/>
                          </a:solidFill>
                          <a:latin typeface="Hanken Grotesk" pitchFamily="34" charset="0"/>
                          <a:ea typeface="Hanken Grotesk" pitchFamily="34" charset="-122"/>
                          <a:cs typeface="Hanken Grotesk" pitchFamily="34" charset="-120"/>
                        </a:rPr>
                        <a:t>Does not rise</a:t>
                      </a:r>
                      <a:endParaRPr lang="en-US" sz="1300" dirty="0">
                        <a:latin typeface="Hanken Grotesk" charset="0"/>
                        <a:ea typeface="Hanken Grotesk" charset="0"/>
                        <a:cs typeface="Hanken Grotesk"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bl>
          </a:graphicData>
        </a:graphic>
      </p:graphicFrame>
      <p:sp>
        <p:nvSpPr>
          <p:cNvPr id="17" name="Text 12"/>
          <p:cNvSpPr/>
          <p:nvPr/>
        </p:nvSpPr>
        <p:spPr>
          <a:xfrm>
            <a:off x="812800" y="5120642"/>
            <a:ext cx="10566400" cy="674370"/>
          </a:xfrm>
          <a:prstGeom prst="roundRect">
            <a:avLst>
              <a:gd name="adj" fmla="val 7533"/>
            </a:avLst>
          </a:prstGeom>
          <a:solidFill>
            <a:srgbClr val="F3E1D6"/>
          </a:solidFill>
          <a:ln/>
        </p:spPr>
        <p:txBody>
          <a:bodyPr wrap="square" lIns="213721" tIns="99421" rIns="0" bIns="74021" rtlCol="0" anchor="t">
            <a:normAutofit/>
          </a:bodyPr>
          <a:lstStyle/>
          <a:p>
            <a:pPr algn="l" indent="0" marL="0">
              <a:lnSpc>
                <a:spcPts val="1755"/>
              </a:lnSpc>
              <a:buNone/>
            </a:pPr>
            <a:r>
              <a:rPr lang="en-US" sz="1300" b="1" dirty="0">
                <a:solidFill>
                  <a:srgbClr val="14140F"/>
                </a:solidFill>
                <a:latin typeface="Hanken Grotesk" pitchFamily="34" charset="0"/>
                <a:ea typeface="Hanken Grotesk" pitchFamily="34" charset="-122"/>
                <a:cs typeface="Hanken Grotesk" pitchFamily="34" charset="-120"/>
              </a:rPr>
              <a:t>Honest status:</a:t>
            </a:r>
            <a:r>
              <a:rPr lang="en-US" sz="1300" dirty="0">
                <a:solidFill>
                  <a:srgbClr val="14140F"/>
                </a:solidFill>
                <a:latin typeface="Hanken Grotesk" pitchFamily="34" charset="0"/>
                <a:ea typeface="Hanken Grotesk" pitchFamily="34" charset="-122"/>
                <a:cs typeface="Hanken Grotesk" pitchFamily="34" charset="-120"/>
              </a:rPr>
              <a:t> I have not run this with real employees. Today I can claim only the test results. Personal-phone use cannot be measured, except through the survey.</a:t>
            </a:r>
            <a:endParaRPr lang="en-US" sz="1300" dirty="0"/>
          </a:p>
        </p:txBody>
      </p:sp>
      <p:sp>
        <p:nvSpPr>
          <p:cNvPr id="18" name="Shape 13"/>
          <p:cNvSpPr/>
          <p:nvPr/>
        </p:nvSpPr>
        <p:spPr>
          <a:xfrm>
            <a:off x="812800" y="5120642"/>
            <a:ext cx="10566400" cy="674370"/>
          </a:xfrm>
          <a:custGeom>
            <a:avLst/>
            <a:gdLst/>
            <a:ahLst/>
            <a:cxnLst/>
            <a:rect l="l" t="t" r="r" b="b"/>
            <a:pathLst>
              <a:path w="10566400" h="674370">
                <a:moveTo>
                  <a:pt x="50800" y="674370"/>
                </a:moveTo>
                <a:lnTo>
                  <a:pt x="50800" y="674370"/>
                </a:lnTo>
                <a:arcTo hR="50800" wR="50800" stAng="5400000" swAng="5400000"/>
                <a:lnTo>
                  <a:pt x="0" y="50800"/>
                </a:lnTo>
                <a:arcTo hR="50800" wR="50800" stAng="10800000" swAng="5400000"/>
                <a:lnTo>
                  <a:pt x="50800" y="0"/>
                </a:lnTo>
                <a:lnTo>
                  <a:pt x="50800" y="674370"/>
                </a:lnTo>
                <a:close/>
              </a:path>
            </a:pathLst>
          </a:custGeom>
          <a:solidFill>
            <a:srgbClr val="A65D3A"/>
          </a:solidFill>
          <a:ln/>
        </p:spPr>
      </p:sp>
      <p:sp>
        <p:nvSpPr>
          <p:cNvPr id="19" name="Text 14"/>
          <p:cNvSpPr/>
          <p:nvPr/>
        </p:nvSpPr>
        <p:spPr>
          <a:xfrm>
            <a:off x="812800" y="6238242"/>
            <a:ext cx="94837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Pilot plan: documentation section 14</a:t>
            </a:r>
            <a:endParaRPr lang="en-US" sz="1200" dirty="0"/>
          </a:p>
        </p:txBody>
      </p:sp>
      <p:sp>
        <p:nvSpPr>
          <p:cNvPr id="20" name="Text 15"/>
          <p:cNvSpPr/>
          <p:nvPr/>
        </p:nvSpPr>
        <p:spPr>
          <a:xfrm>
            <a:off x="10375900" y="6238242"/>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2" name="Shape 0"/>
          <p:cNvSpPr/>
          <p:nvPr/>
        </p:nvSpPr>
        <p:spPr>
          <a:xfrm>
            <a:off x="812800" y="1118870"/>
            <a:ext cx="10566400" cy="0"/>
          </a:xfrm>
          <a:prstGeom prst="line">
            <a:avLst/>
          </a:prstGeom>
          <a:noFill/>
          <a:ln w="12700">
            <a:solidFill>
              <a:srgbClr val="14140F"/>
            </a:solidFill>
            <a:prstDash val="solid"/>
          </a:ln>
        </p:spPr>
        <p:txBody>
          <a:bodyPr/>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2503A"/>
                </a:solidFill>
                <a:latin typeface="JetBrains Mono" pitchFamily="49" charset="0"/>
                <a:ea typeface="JetBrains Mono" pitchFamily="49" charset="-122"/>
                <a:cs typeface="JetBrains Mono" pitchFamily="49" charset="-120"/>
              </a:rPr>
              <a:t>12 / LIMITS, NEXT STEPS AND HOW IT WAS BUILT</a:t>
            </a:r>
            <a:endParaRPr lang="en-US" sz="1200" dirty="0"/>
          </a:p>
        </p:txBody>
      </p:sp>
      <p:sp>
        <p:nvSpPr>
          <p:cNvPr id="4" name="Text 2"/>
          <p:cNvSpPr/>
          <p:nvPr>
            <p:ph type="title"/>
          </p:nvPr>
        </p:nvSpPr>
        <p:spPr>
          <a:xfrm>
            <a:off x="812800" y="130302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140F"/>
                </a:solidFill>
                <a:latin typeface="Hanken Grotesk" pitchFamily="34" charset="0"/>
                <a:ea typeface="Hanken Grotesk" pitchFamily="34" charset="-122"/>
                <a:cs typeface="Hanken Grotesk" pitchFamily="34" charset="-120"/>
              </a:rPr>
              <a:t>What it can’t do yet, and who built what</a:t>
            </a:r>
            <a:endParaRPr lang="en-US" sz="2800" dirty="0"/>
          </a:p>
        </p:txBody>
      </p:sp>
      <p:sp>
        <p:nvSpPr>
          <p:cNvPr id="5" name="Shape 3"/>
          <p:cNvSpPr/>
          <p:nvPr/>
        </p:nvSpPr>
        <p:spPr>
          <a:xfrm>
            <a:off x="819150" y="1878329"/>
            <a:ext cx="3397647" cy="2856230"/>
          </a:xfrm>
          <a:prstGeom prst="roundRect">
            <a:avLst>
              <a:gd name="adj" fmla="val 2446"/>
            </a:avLst>
          </a:prstGeom>
          <a:solidFill>
            <a:srgbClr val="F3E1D6"/>
          </a:solidFill>
          <a:ln w="12700">
            <a:solidFill>
              <a:srgbClr val="A65D3A"/>
            </a:solidFill>
            <a:prstDash val="solid"/>
          </a:ln>
        </p:spPr>
        <p:txBody>
          <a:bodyPr/>
          <a:p/>
        </p:txBody>
      </p:sp>
      <p:sp>
        <p:nvSpPr>
          <p:cNvPr id="6" name="Text 4"/>
          <p:cNvSpPr/>
          <p:nvPr/>
        </p:nvSpPr>
        <p:spPr>
          <a:xfrm>
            <a:off x="1000760" y="2047242"/>
            <a:ext cx="312546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A65D3A"/>
                </a:solidFill>
                <a:latin typeface="JetBrains Mono" pitchFamily="49" charset="0"/>
                <a:ea typeface="JetBrains Mono" pitchFamily="49" charset="-122"/>
                <a:cs typeface="JetBrains Mono" pitchFamily="49" charset="-120"/>
              </a:rPr>
              <a:t>LIMITATIONS</a:t>
            </a:r>
            <a:endParaRPr lang="en-US" sz="1200" dirty="0"/>
          </a:p>
        </p:txBody>
      </p:sp>
      <p:sp>
        <p:nvSpPr>
          <p:cNvPr id="7" name="Text 5"/>
          <p:cNvSpPr/>
          <p:nvPr/>
        </p:nvSpPr>
        <p:spPr>
          <a:xfrm>
            <a:off x="1092454" y="2336800"/>
            <a:ext cx="3026146" cy="225425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Test data is synthetic; real accuracy will be lower</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9 values missed, e.g. digits written as words</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Provider tiers are demo settings, not vendor claims</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Lens: Chromium only; overlay checked on the OpenBox demo only</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No real pilot yet; personal phones out of reach</a:t>
            </a:r>
            <a:endParaRPr lang="en-US" sz="1300" dirty="0"/>
          </a:p>
        </p:txBody>
      </p:sp>
      <p:sp>
        <p:nvSpPr>
          <p:cNvPr id="8" name="Shape 6"/>
          <p:cNvSpPr/>
          <p:nvPr/>
        </p:nvSpPr>
        <p:spPr>
          <a:xfrm>
            <a:off x="4407297" y="1878329"/>
            <a:ext cx="3397726" cy="2856230"/>
          </a:xfrm>
          <a:prstGeom prst="roundRect">
            <a:avLst>
              <a:gd name="adj" fmla="val 2446"/>
            </a:avLst>
          </a:prstGeom>
          <a:solidFill>
            <a:srgbClr val="EEF1E8"/>
          </a:solidFill>
          <a:ln w="12700">
            <a:solidFill>
              <a:srgbClr val="14140F"/>
            </a:solidFill>
            <a:prstDash val="solid"/>
          </a:ln>
        </p:spPr>
        <p:txBody>
          <a:bodyPr/>
          <a:p/>
        </p:txBody>
      </p:sp>
      <p:sp>
        <p:nvSpPr>
          <p:cNvPr id="9" name="Text 7"/>
          <p:cNvSpPr/>
          <p:nvPr/>
        </p:nvSpPr>
        <p:spPr>
          <a:xfrm>
            <a:off x="4588907" y="2047242"/>
            <a:ext cx="312554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2503A"/>
                </a:solidFill>
                <a:latin typeface="JetBrains Mono" pitchFamily="49" charset="0"/>
                <a:ea typeface="JetBrains Mono" pitchFamily="49" charset="-122"/>
                <a:cs typeface="JetBrains Mono" pitchFamily="49" charset="-120"/>
              </a:rPr>
              <a:t>NEXT STEPS</a:t>
            </a:r>
            <a:endParaRPr lang="en-US" sz="1200" dirty="0"/>
          </a:p>
        </p:txBody>
      </p:sp>
      <p:sp>
        <p:nvSpPr>
          <p:cNvPr id="10" name="Text 8"/>
          <p:cNvSpPr/>
          <p:nvPr/>
        </p:nvSpPr>
        <p:spPr>
          <a:xfrm>
            <a:off x="4680601" y="2336800"/>
            <a:ext cx="3026227" cy="203136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Shadow-mode pilot with one real team</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Fix the misses: words-as-digits, obfuscated emails, split keys</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Test Lens on real AI sites</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Coding-agent support via local hook or proxy (not built: time, resources)</a:t>
            </a:r>
            <a:endParaRPr lang="en-US" sz="1300" dirty="0"/>
          </a:p>
          <a:p>
            <a:pPr algn="l" marL="162306" indent="-162306">
              <a:lnSpc>
                <a:spcPts val="1755"/>
              </a:lnSpc>
              <a:buSzPct val="100000"/>
              <a:buChar char="•"/>
            </a:pPr>
            <a:r>
              <a:rPr lang="en-US" sz="1300" dirty="0">
                <a:solidFill>
                  <a:srgbClr val="14140F"/>
                </a:solidFill>
                <a:latin typeface="Hanken Grotesk" pitchFamily="34" charset="0"/>
                <a:ea typeface="Hanken Grotesk" pitchFamily="34" charset="-122"/>
                <a:cs typeface="Hanken Grotesk" pitchFamily="34" charset="-120"/>
              </a:rPr>
              <a:t>SSO, tamper-evident audit, tighten-only second opinion</a:t>
            </a:r>
            <a:endParaRPr lang="en-US" sz="1300" dirty="0"/>
          </a:p>
        </p:txBody>
      </p:sp>
      <p:sp>
        <p:nvSpPr>
          <p:cNvPr id="11" name="Shape 9"/>
          <p:cNvSpPr/>
          <p:nvPr/>
        </p:nvSpPr>
        <p:spPr>
          <a:xfrm>
            <a:off x="7989174" y="1871979"/>
            <a:ext cx="3390027" cy="2868930"/>
          </a:xfrm>
          <a:prstGeom prst="roundRect">
            <a:avLst>
              <a:gd name="adj" fmla="val 2656"/>
            </a:avLst>
          </a:prstGeom>
          <a:solidFill>
            <a:srgbClr val="12503A"/>
          </a:solidFill>
          <a:ln/>
          <a:effectLst>
            <a:outerShdw sx="100000" sy="100000" kx="0" ky="0" algn="bl" rotWithShape="0" blurRad="0" dist="71842" dir="2700000">
              <a:srgbClr val="7D8B6A">
                <a:alpha val="100000"/>
              </a:srgbClr>
            </a:outerShdw>
          </a:effectLst>
        </p:spPr>
        <p:txBody>
          <a:bodyPr/>
          <a:p/>
        </p:txBody>
      </p:sp>
      <p:sp>
        <p:nvSpPr>
          <p:cNvPr id="12" name="Text 10"/>
          <p:cNvSpPr/>
          <p:nvPr/>
        </p:nvSpPr>
        <p:spPr>
          <a:xfrm>
            <a:off x="8166974" y="2037079"/>
            <a:ext cx="312546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9C8AE"/>
                </a:solidFill>
                <a:latin typeface="JetBrains Mono" pitchFamily="49" charset="0"/>
                <a:ea typeface="JetBrains Mono" pitchFamily="49" charset="-122"/>
                <a:cs typeface="JetBrains Mono" pitchFamily="49" charset="-120"/>
              </a:rPr>
              <a:t>HOW I WORKED (AI USE)</a:t>
            </a:r>
            <a:endParaRPr lang="en-US" sz="1200" dirty="0"/>
          </a:p>
        </p:txBody>
      </p:sp>
      <p:sp>
        <p:nvSpPr>
          <p:cNvPr id="13" name="Text 11"/>
          <p:cNvSpPr/>
          <p:nvPr/>
        </p:nvSpPr>
        <p:spPr>
          <a:xfrm>
            <a:off x="8258668" y="2326642"/>
            <a:ext cx="3026146" cy="203136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FBFAF7"/>
                </a:solidFill>
                <a:latin typeface="Hanken Grotesk" pitchFamily="34" charset="0"/>
                <a:ea typeface="Hanken Grotesk" pitchFamily="34" charset="-122"/>
                <a:cs typeface="Hanken Grotesk" pitchFamily="34" charset="-120"/>
              </a:rPr>
              <a:t>Claude Code wrote most of the code, tests and technical docs</a:t>
            </a:r>
            <a:endParaRPr lang="en-US" sz="1300" dirty="0"/>
          </a:p>
          <a:p>
            <a:pPr algn="l" marL="162306" indent="-162306">
              <a:lnSpc>
                <a:spcPts val="1755"/>
              </a:lnSpc>
              <a:buSzPct val="100000"/>
              <a:buChar char="•"/>
            </a:pPr>
            <a:r>
              <a:rPr lang="en-US" sz="1300" dirty="0">
                <a:solidFill>
                  <a:srgbClr val="FBFAF7"/>
                </a:solidFill>
                <a:latin typeface="Hanken Grotesk" pitchFamily="34" charset="0"/>
                <a:ea typeface="Hanken Grotesk" pitchFamily="34" charset="-122"/>
                <a:cs typeface="Hanken Grotesk" pitchFamily="34" charset="-120"/>
              </a:rPr>
              <a:t>Claude chat helped research and draft the docs from my notes</a:t>
            </a:r>
            <a:endParaRPr lang="en-US" sz="1300" dirty="0"/>
          </a:p>
          <a:p>
            <a:pPr algn="l" marL="162306" indent="-162306">
              <a:lnSpc>
                <a:spcPts val="1755"/>
              </a:lnSpc>
              <a:buSzPct val="100000"/>
              <a:buChar char="•"/>
            </a:pPr>
            <a:r>
              <a:rPr lang="en-US" sz="1300" dirty="0">
                <a:solidFill>
                  <a:srgbClr val="FBFAF7"/>
                </a:solidFill>
                <a:latin typeface="Hanken Grotesk" pitchFamily="34" charset="0"/>
                <a:ea typeface="Hanken Grotesk" pitchFamily="34" charset="-122"/>
                <a:cs typeface="Hanken Grotesk" pitchFamily="34" charset="-120"/>
              </a:rPr>
              <a:t>I chose the idea, made the scope calls and tested by hand</a:t>
            </a:r>
            <a:endParaRPr lang="en-US" sz="1300" dirty="0"/>
          </a:p>
          <a:p>
            <a:pPr algn="l" marL="162306" indent="-162306">
              <a:lnSpc>
                <a:spcPts val="1755"/>
              </a:lnSpc>
              <a:buSzPct val="100000"/>
              <a:buChar char="•"/>
            </a:pPr>
            <a:r>
              <a:rPr lang="en-US" sz="1300" dirty="0">
                <a:solidFill>
                  <a:srgbClr val="FBFAF7"/>
                </a:solidFill>
                <a:latin typeface="Hanken Grotesk" pitchFamily="34" charset="0"/>
                <a:ea typeface="Hanken Grotesk" pitchFamily="34" charset="-122"/>
                <a:cs typeface="Hanken Grotesk" pitchFamily="34" charset="-120"/>
              </a:rPr>
              <a:t>Claude changed my mind once: an AI judge per prompt became compile, then enforce</a:t>
            </a:r>
            <a:endParaRPr lang="en-US" sz="1300" dirty="0"/>
          </a:p>
        </p:txBody>
      </p:sp>
      <p:sp>
        <p:nvSpPr>
          <p:cNvPr id="14" name="Text 12"/>
          <p:cNvSpPr/>
          <p:nvPr/>
        </p:nvSpPr>
        <p:spPr>
          <a:xfrm>
            <a:off x="812800" y="4918714"/>
            <a:ext cx="10566400" cy="434340"/>
          </a:xfrm>
          <a:prstGeom prst="roundRect">
            <a:avLst>
              <a:gd name="adj" fmla="val 17544"/>
            </a:avLst>
          </a:prstGeom>
          <a:solidFill>
            <a:srgbClr val="14140F"/>
          </a:solidFill>
          <a:ln/>
        </p:spPr>
        <p:txBody>
          <a:bodyPr wrap="square" lIns="180882" tIns="79282" rIns="180882" bIns="79282" rtlCol="0" anchor="ctr">
            <a:normAutofit/>
          </a:bodyPr>
          <a:lstStyle/>
          <a:p>
            <a:pPr algn="l" indent="0" marL="0">
              <a:lnSpc>
                <a:spcPts val="1620"/>
              </a:lnSpc>
              <a:buNone/>
            </a:pPr>
            <a:r>
              <a:rPr lang="en-US" sz="1200" dirty="0">
                <a:solidFill>
                  <a:srgbClr val="FBFAF7"/>
                </a:solidFill>
                <a:latin typeface="JetBrains Mono" pitchFamily="49" charset="0"/>
                <a:ea typeface="JetBrains Mono" pitchFamily="49" charset="-122"/>
                <a:cs typeface="JetBrains Mono" pitchFamily="49" charset="-120"/>
              </a:rPr>
              <a:t>github.com/shibambocollins/clearance-gateway · clearance-gateway-web.vercel.app</a:t>
            </a:r>
            <a:endParaRPr lang="en-US" sz="1200" dirty="0"/>
          </a:p>
        </p:txBody>
      </p:sp>
      <p:sp>
        <p:nvSpPr>
          <p:cNvPr id="15" name="Text 13"/>
          <p:cNvSpPr/>
          <p:nvPr/>
        </p:nvSpPr>
        <p:spPr>
          <a:xfrm>
            <a:off x="812800" y="6238242"/>
            <a:ext cx="94837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68 logged decisions in docs/decisions.md · reused: gitleaks patterns, FinMe design system</a:t>
            </a:r>
            <a:endParaRPr lang="en-US" sz="1200" dirty="0"/>
          </a:p>
        </p:txBody>
      </p:sp>
      <p:sp>
        <p:nvSpPr>
          <p:cNvPr id="16" name="Text 14"/>
          <p:cNvSpPr/>
          <p:nvPr/>
        </p:nvSpPr>
        <p:spPr>
          <a:xfrm>
            <a:off x="10375900" y="6238242"/>
            <a:ext cx="1003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D42"/>
                </a:solidFill>
                <a:latin typeface="JetBrains Mono" pitchFamily="49" charset="0"/>
                <a:ea typeface="JetBrains Mono" pitchFamily="49" charset="-122"/>
                <a:cs typeface="JetBrains Mono" pitchFamily="49" charset="-120"/>
              </a:rPr>
              <a:t>12 / 12</a:t>
            </a:r>
            <a:endParaRPr lang="en-US" sz="1200" dirty="0"/>
          </a:p>
        </p:txBody>
      </p:sp>
    </p:spTree>
  </p:cSld>
  <p:clrMapOvr>
    <a:masterClrMapping/>
  </p:clrMapOvr>
</p:sld>
</file>

<file path=ppt/theme/theme1.xml><?xml version="1.0" encoding="utf-8"?>
<a:theme xmlns:a="http://schemas.openxmlformats.org/drawingml/2006/main" name="Clearance Gateway: pitch deck">
  <a:themeElements>
    <a:clrScheme name="Clearance Gateway: pitch deck">
      <a:dk1>
        <a:srgbClr val="14140F"/>
      </a:dk1>
      <a:lt1>
        <a:srgbClr val="FBFAF7"/>
      </a:lt1>
      <a:dk2>
        <a:srgbClr val="4E4E49"/>
      </a:dk2>
      <a:lt2>
        <a:srgbClr val="E4E3E0"/>
      </a:lt2>
      <a:accent1>
        <a:srgbClr val="12503A"/>
      </a:accent1>
      <a:accent2>
        <a:srgbClr val="A65D3A"/>
      </a:accent2>
      <a:accent3>
        <a:srgbClr val="E9B79B"/>
      </a:accent3>
      <a:accent4>
        <a:srgbClr val="4A4D42"/>
      </a:accent4>
      <a:accent5>
        <a:srgbClr val="B9C8AE"/>
      </a:accent5>
      <a:accent6>
        <a:srgbClr val="F3E1D6"/>
      </a:accent6>
      <a:hlink>
        <a:srgbClr val="0563C1"/>
      </a:hlink>
      <a:folHlink>
        <a:srgbClr val="954F72"/>
      </a:folHlink>
    </a:clrScheme>
    <a:fontScheme name="Clearance Gateway: pitch deck">
      <a:majorFont>
        <a:latin typeface="Hanken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anken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Clearance Gateway: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Hanken Grotesk
Copyright 2021 The Hanken Grotesk Project Authors (https://github.com/marcologous/hanken-grotesk)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2026-10-29T07:56:20Z</dcterms:created>
  <dcterms:modified xsi:type="dcterms:W3CDTF">2026-10-29T07:56:20Z</dcterms:modified>
</cp:coreProperties>
</file>